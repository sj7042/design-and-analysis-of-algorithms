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D4294-74F0-4AD3-8673-207D9F177553}" v="2" dt="2026-10-20T08:25:37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ni S J" userId="ca741b92d91f6dd0" providerId="LiveId" clId="{76156CCF-185F-4431-A642-4D8FD8BDBCD5}"/>
    <pc:docChg chg="undo custSel modSld">
      <pc:chgData name="Harshini S J" userId="ca741b92d91f6dd0" providerId="LiveId" clId="{76156CCF-185F-4431-A642-4D8FD8BDBCD5}" dt="2026-10-20T08:29:34.426" v="97" actId="1076"/>
      <pc:docMkLst>
        <pc:docMk/>
      </pc:docMkLst>
      <pc:sldChg chg="modSp mod">
        <pc:chgData name="Harshini S J" userId="ca741b92d91f6dd0" providerId="LiveId" clId="{76156CCF-185F-4431-A642-4D8FD8BDBCD5}" dt="2026-10-20T08:24:28.564" v="63" actId="1076"/>
        <pc:sldMkLst>
          <pc:docMk/>
          <pc:sldMk cId="0" sldId="257"/>
        </pc:sldMkLst>
        <pc:spChg chg="mod">
          <ac:chgData name="Harshini S J" userId="ca741b92d91f6dd0" providerId="LiveId" clId="{76156CCF-185F-4431-A642-4D8FD8BDBCD5}" dt="2026-10-20T08:22:06.566" v="47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4:28.564" v="63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4:09.926" v="62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4:06.963" v="61" actId="1076"/>
          <ac:spMkLst>
            <pc:docMk/>
            <pc:sldMk cId="0" sldId="257"/>
            <ac:spMk id="23" creationId="{00000000-0000-0000-0000-000000000000}"/>
          </ac:spMkLst>
        </pc:spChg>
      </pc:sldChg>
      <pc:sldChg chg="modSp mod">
        <pc:chgData name="Harshini S J" userId="ca741b92d91f6dd0" providerId="LiveId" clId="{76156CCF-185F-4431-A642-4D8FD8BDBCD5}" dt="2026-10-20T08:24:37.640" v="64" actId="1076"/>
        <pc:sldMkLst>
          <pc:docMk/>
          <pc:sldMk cId="0" sldId="258"/>
        </pc:sldMkLst>
        <pc:spChg chg="mod">
          <ac:chgData name="Harshini S J" userId="ca741b92d91f6dd0" providerId="LiveId" clId="{76156CCF-185F-4431-A642-4D8FD8BDBCD5}" dt="2026-10-20T08:22:13.228" v="48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4:00.771" v="60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4:37.640" v="64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3:53.842" v="58" actId="1076"/>
          <ac:spMkLst>
            <pc:docMk/>
            <pc:sldMk cId="0" sldId="258"/>
            <ac:spMk id="39" creationId="{00000000-0000-0000-0000-000000000000}"/>
          </ac:spMkLst>
        </pc:spChg>
      </pc:sldChg>
      <pc:sldChg chg="modSp mod">
        <pc:chgData name="Harshini S J" userId="ca741b92d91f6dd0" providerId="LiveId" clId="{76156CCF-185F-4431-A642-4D8FD8BDBCD5}" dt="2026-10-20T08:24:45.376" v="65" actId="1076"/>
        <pc:sldMkLst>
          <pc:docMk/>
          <pc:sldMk cId="0" sldId="259"/>
        </pc:sldMkLst>
        <pc:spChg chg="mod">
          <ac:chgData name="Harshini S J" userId="ca741b92d91f6dd0" providerId="LiveId" clId="{76156CCF-185F-4431-A642-4D8FD8BDBCD5}" dt="2026-10-20T08:22:23.007" v="49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4:45.376" v="65" actId="1076"/>
          <ac:spMkLst>
            <pc:docMk/>
            <pc:sldMk cId="0" sldId="259"/>
            <ac:spMk id="33" creationId="{00000000-0000-0000-0000-000000000000}"/>
          </ac:spMkLst>
        </pc:spChg>
      </pc:sldChg>
      <pc:sldChg chg="modSp mod">
        <pc:chgData name="Harshini S J" userId="ca741b92d91f6dd0" providerId="LiveId" clId="{76156CCF-185F-4431-A642-4D8FD8BDBCD5}" dt="2026-10-20T08:25:06.437" v="66" actId="1076"/>
        <pc:sldMkLst>
          <pc:docMk/>
          <pc:sldMk cId="0" sldId="260"/>
        </pc:sldMkLst>
        <pc:spChg chg="mod">
          <ac:chgData name="Harshini S J" userId="ca741b92d91f6dd0" providerId="LiveId" clId="{76156CCF-185F-4431-A642-4D8FD8BDBCD5}" dt="2026-10-20T08:22:32.640" v="50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5:06.437" v="66" actId="1076"/>
          <ac:spMkLst>
            <pc:docMk/>
            <pc:sldMk cId="0" sldId="260"/>
            <ac:spMk id="19" creationId="{00000000-0000-0000-0000-000000000000}"/>
          </ac:spMkLst>
        </pc:spChg>
      </pc:sldChg>
      <pc:sldChg chg="modSp mod">
        <pc:chgData name="Harshini S J" userId="ca741b92d91f6dd0" providerId="LiveId" clId="{76156CCF-185F-4431-A642-4D8FD8BDBCD5}" dt="2026-10-20T08:25:14.301" v="67" actId="1076"/>
        <pc:sldMkLst>
          <pc:docMk/>
          <pc:sldMk cId="0" sldId="261"/>
        </pc:sldMkLst>
        <pc:spChg chg="mod">
          <ac:chgData name="Harshini S J" userId="ca741b92d91f6dd0" providerId="LiveId" clId="{76156CCF-185F-4431-A642-4D8FD8BDBCD5}" dt="2026-10-20T08:22:53.535" v="52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5:14.301" v="67" actId="1076"/>
          <ac:spMkLst>
            <pc:docMk/>
            <pc:sldMk cId="0" sldId="261"/>
            <ac:spMk id="29" creationId="{00000000-0000-0000-0000-000000000000}"/>
          </ac:spMkLst>
        </pc:spChg>
      </pc:sldChg>
      <pc:sldChg chg="modSp mod">
        <pc:chgData name="Harshini S J" userId="ca741b92d91f6dd0" providerId="LiveId" clId="{76156CCF-185F-4431-A642-4D8FD8BDBCD5}" dt="2026-10-20T08:29:22.990" v="96" actId="1076"/>
        <pc:sldMkLst>
          <pc:docMk/>
          <pc:sldMk cId="0" sldId="262"/>
        </pc:sldMkLst>
        <pc:spChg chg="mod">
          <ac:chgData name="Harshini S J" userId="ca741b92d91f6dd0" providerId="LiveId" clId="{76156CCF-185F-4431-A642-4D8FD8BDBCD5}" dt="2026-10-20T08:23:01.050" v="53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9:22.990" v="96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5:21.360" v="68" actId="1076"/>
          <ac:spMkLst>
            <pc:docMk/>
            <pc:sldMk cId="0" sldId="262"/>
            <ac:spMk id="23" creationId="{00000000-0000-0000-0000-000000000000}"/>
          </ac:spMkLst>
        </pc:spChg>
      </pc:sldChg>
      <pc:sldChg chg="addSp delSp modSp mod">
        <pc:chgData name="Harshini S J" userId="ca741b92d91f6dd0" providerId="LiveId" clId="{76156CCF-185F-4431-A642-4D8FD8BDBCD5}" dt="2026-10-20T08:25:45.154" v="72" actId="22"/>
        <pc:sldMkLst>
          <pc:docMk/>
          <pc:sldMk cId="0" sldId="263"/>
        </pc:sldMkLst>
        <pc:spChg chg="mod">
          <ac:chgData name="Harshini S J" userId="ca741b92d91f6dd0" providerId="LiveId" clId="{76156CCF-185F-4431-A642-4D8FD8BDBCD5}" dt="2026-10-20T08:23:08.874" v="54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1:47.188" v="46" actId="1076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Harshini S J" userId="ca741b92d91f6dd0" providerId="LiveId" clId="{76156CCF-185F-4431-A642-4D8FD8BDBCD5}" dt="2026-10-20T08:20:52.381" v="38" actId="478"/>
          <ac:spMkLst>
            <pc:docMk/>
            <pc:sldMk cId="0" sldId="263"/>
            <ac:spMk id="21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1:39.341" v="45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1:35.823" v="44" actId="14100"/>
          <ac:spMkLst>
            <pc:docMk/>
            <pc:sldMk cId="0" sldId="263"/>
            <ac:spMk id="28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1:26.364" v="42" actId="1076"/>
          <ac:spMkLst>
            <pc:docMk/>
            <pc:sldMk cId="0" sldId="263"/>
            <ac:spMk id="30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1:31.578" v="43" actId="1076"/>
          <ac:spMkLst>
            <pc:docMk/>
            <pc:sldMk cId="0" sldId="263"/>
            <ac:spMk id="31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1:08.523" v="40" actId="107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1:21.619" v="41" actId="1076"/>
          <ac:spMkLst>
            <pc:docMk/>
            <pc:sldMk cId="0" sldId="263"/>
            <ac:spMk id="33" creationId="{00000000-0000-0000-0000-000000000000}"/>
          </ac:spMkLst>
        </pc:spChg>
        <pc:spChg chg="add del">
          <ac:chgData name="Harshini S J" userId="ca741b92d91f6dd0" providerId="LiveId" clId="{76156CCF-185F-4431-A642-4D8FD8BDBCD5}" dt="2026-10-20T08:25:45.154" v="72" actId="22"/>
          <ac:spMkLst>
            <pc:docMk/>
            <pc:sldMk cId="0" sldId="263"/>
            <ac:spMk id="37" creationId="{FAF24568-06C5-E261-C7FF-5D536E372FBF}"/>
          </ac:spMkLst>
        </pc:spChg>
      </pc:sldChg>
      <pc:sldChg chg="addSp modSp mod">
        <pc:chgData name="Harshini S J" userId="ca741b92d91f6dd0" providerId="LiveId" clId="{76156CCF-185F-4431-A642-4D8FD8BDBCD5}" dt="2026-10-20T08:29:34.426" v="97" actId="1076"/>
        <pc:sldMkLst>
          <pc:docMk/>
          <pc:sldMk cId="0" sldId="264"/>
        </pc:sldMkLst>
        <pc:spChg chg="mod">
          <ac:chgData name="Harshini S J" userId="ca741b92d91f6dd0" providerId="LiveId" clId="{76156CCF-185F-4431-A642-4D8FD8BDBCD5}" dt="2026-10-20T08:23:14.797" v="55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9:34.426" v="97" actId="1076"/>
          <ac:spMkLst>
            <pc:docMk/>
            <pc:sldMk cId="0" sldId="264"/>
            <ac:spMk id="39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6:57.815" v="84" actId="255"/>
          <ac:spMkLst>
            <pc:docMk/>
            <pc:sldMk cId="0" sldId="264"/>
            <ac:spMk id="40" creationId="{00000000-0000-0000-0000-000000000000}"/>
          </ac:spMkLst>
        </pc:spChg>
        <pc:spChg chg="add mod">
          <ac:chgData name="Harshini S J" userId="ca741b92d91f6dd0" providerId="LiveId" clId="{76156CCF-185F-4431-A642-4D8FD8BDBCD5}" dt="2026-10-20T08:26:01.220" v="75" actId="207"/>
          <ac:spMkLst>
            <pc:docMk/>
            <pc:sldMk cId="0" sldId="264"/>
            <ac:spMk id="43" creationId="{93043C2E-74C0-A842-32C8-33E84F02C68E}"/>
          </ac:spMkLst>
        </pc:spChg>
        <pc:graphicFrameChg chg="add mod">
          <ac:chgData name="Harshini S J" userId="ca741b92d91f6dd0" providerId="LiveId" clId="{76156CCF-185F-4431-A642-4D8FD8BDBCD5}" dt="2026-10-20T08:25:37.973" v="70"/>
          <ac:graphicFrameMkLst>
            <pc:docMk/>
            <pc:sldMk cId="0" sldId="264"/>
            <ac:graphicFrameMk id="41" creationId="{C7D017CD-EA82-C517-2E5F-D420CE292129}"/>
          </ac:graphicFrameMkLst>
        </pc:graphicFrameChg>
      </pc:sldChg>
      <pc:sldChg chg="addSp modSp mod">
        <pc:chgData name="Harshini S J" userId="ca741b92d91f6dd0" providerId="LiveId" clId="{76156CCF-185F-4431-A642-4D8FD8BDBCD5}" dt="2026-10-20T08:28:42.489" v="95" actId="1076"/>
        <pc:sldMkLst>
          <pc:docMk/>
          <pc:sldMk cId="0" sldId="265"/>
        </pc:sldMkLst>
        <pc:spChg chg="mod">
          <ac:chgData name="Harshini S J" userId="ca741b92d91f6dd0" providerId="LiveId" clId="{76156CCF-185F-4431-A642-4D8FD8BDBCD5}" dt="2026-10-20T08:28:24.621" v="92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9:25.284" v="33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9:38.689" v="34" actId="20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7:57.972" v="89" actId="20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8:12.831" v="90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9:43.587" v="35" actId="20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7:26.422" v="18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7:58.761" v="24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9:48.116" v="36" actId="20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7:40.780" v="21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8:19.309" v="91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8:28.128" v="93" actId="14100"/>
          <ac:spMkLst>
            <pc:docMk/>
            <pc:sldMk cId="0" sldId="265"/>
            <ac:spMk id="19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9:12.434" v="30" actId="20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8:52.627" v="27" actId="20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8:46.385" v="26" actId="20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18:57.367" v="28" actId="207"/>
          <ac:spMkLst>
            <pc:docMk/>
            <pc:sldMk cId="0" sldId="265"/>
            <ac:spMk id="29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8:32.004" v="94" actId="1076"/>
          <ac:spMkLst>
            <pc:docMk/>
            <pc:sldMk cId="0" sldId="265"/>
            <ac:spMk id="33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8:42.489" v="95" actId="1076"/>
          <ac:spMkLst>
            <pc:docMk/>
            <pc:sldMk cId="0" sldId="265"/>
            <ac:spMk id="34" creationId="{00000000-0000-0000-0000-000000000000}"/>
          </ac:spMkLst>
        </pc:spChg>
        <pc:spChg chg="mod">
          <ac:chgData name="Harshini S J" userId="ca741b92d91f6dd0" providerId="LiveId" clId="{76156CCF-185F-4431-A642-4D8FD8BDBCD5}" dt="2026-10-20T08:26:51.225" v="83" actId="1076"/>
          <ac:spMkLst>
            <pc:docMk/>
            <pc:sldMk cId="0" sldId="265"/>
            <ac:spMk id="35" creationId="{00000000-0000-0000-0000-000000000000}"/>
          </ac:spMkLst>
        </pc:spChg>
        <pc:spChg chg="add mod">
          <ac:chgData name="Harshini S J" userId="ca741b92d91f6dd0" providerId="LiveId" clId="{76156CCF-185F-4431-A642-4D8FD8BDBCD5}" dt="2026-10-20T08:26:29.708" v="81" actId="1076"/>
          <ac:spMkLst>
            <pc:docMk/>
            <pc:sldMk cId="0" sldId="265"/>
            <ac:spMk id="37" creationId="{21B99ABB-93A3-5C04-DE91-4049679F6C65}"/>
          </ac:spMkLst>
        </pc:spChg>
      </pc:sldChg>
      <pc:sldChg chg="addSp modSp mod">
        <pc:chgData name="Harshini S J" userId="ca741b92d91f6dd0" providerId="LiveId" clId="{76156CCF-185F-4431-A642-4D8FD8BDBCD5}" dt="2026-10-20T08:27:11.001" v="87" actId="1076"/>
        <pc:sldMkLst>
          <pc:docMk/>
          <pc:sldMk cId="0" sldId="266"/>
        </pc:sldMkLst>
        <pc:spChg chg="mod">
          <ac:chgData name="Harshini S J" userId="ca741b92d91f6dd0" providerId="LiveId" clId="{76156CCF-185F-4431-A642-4D8FD8BDBCD5}" dt="2026-10-20T08:27:11.001" v="87" actId="1076"/>
          <ac:spMkLst>
            <pc:docMk/>
            <pc:sldMk cId="0" sldId="266"/>
            <ac:spMk id="37" creationId="{00000000-0000-0000-0000-000000000000}"/>
          </ac:spMkLst>
        </pc:spChg>
        <pc:spChg chg="add mod">
          <ac:chgData name="Harshini S J" userId="ca741b92d91f6dd0" providerId="LiveId" clId="{76156CCF-185F-4431-A642-4D8FD8BDBCD5}" dt="2026-10-20T08:26:17.957" v="78" actId="1076"/>
          <ac:spMkLst>
            <pc:docMk/>
            <pc:sldMk cId="0" sldId="266"/>
            <ac:spMk id="39" creationId="{F638F964-EB1B-F74D-01E0-61F853AC68C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589520" y="1600200"/>
            <a:ext cx="2011680" cy="411480"/>
          </a:xfrm>
          <a:prstGeom prst="line">
            <a:avLst/>
          </a:prstGeom>
          <a:ln w="35560">
            <a:solidFill>
              <a:srgbClr val="29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601200" y="1600200"/>
            <a:ext cx="1097280" cy="1508760"/>
          </a:xfrm>
          <a:prstGeom prst="line">
            <a:avLst/>
          </a:prstGeom>
          <a:ln w="35560">
            <a:solidFill>
              <a:srgbClr val="29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418320" y="3108960"/>
            <a:ext cx="1280160" cy="1691640"/>
          </a:xfrm>
          <a:prstGeom prst="line">
            <a:avLst/>
          </a:prstGeom>
          <a:ln w="35560">
            <a:solidFill>
              <a:srgbClr val="29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7406640" y="4160520"/>
            <a:ext cx="2011680" cy="640080"/>
          </a:xfrm>
          <a:prstGeom prst="line">
            <a:avLst/>
          </a:prstGeom>
          <a:ln w="35560">
            <a:solidFill>
              <a:srgbClr val="29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406640" y="2011680"/>
            <a:ext cx="182880" cy="2148840"/>
          </a:xfrm>
          <a:prstGeom prst="line">
            <a:avLst/>
          </a:prstGeom>
          <a:ln w="35560">
            <a:solidFill>
              <a:srgbClr val="29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333488" y="1755648"/>
            <a:ext cx="512064" cy="512064"/>
          </a:xfrm>
          <a:prstGeom prst="ellipse">
            <a:avLst/>
          </a:prstGeom>
          <a:solidFill>
            <a:srgbClr val="3FD299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9345168" y="1344168"/>
            <a:ext cx="512064" cy="512064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10442448" y="2852928"/>
            <a:ext cx="512064" cy="512064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0" name="Oval 9"/>
          <p:cNvSpPr/>
          <p:nvPr/>
        </p:nvSpPr>
        <p:spPr>
          <a:xfrm>
            <a:off x="9162288" y="4544568"/>
            <a:ext cx="512064" cy="512064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1" name="Oval 10"/>
          <p:cNvSpPr/>
          <p:nvPr/>
        </p:nvSpPr>
        <p:spPr>
          <a:xfrm>
            <a:off x="7150607" y="3904487"/>
            <a:ext cx="512064" cy="512064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280160"/>
            <a:ext cx="5943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ALGORITHMS  •  GRAPH THEORY  • 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" y="1892554"/>
            <a:ext cx="62179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5F8FF"/>
                </a:solidFill>
                <a:latin typeface="Aptos"/>
              </a:defRPr>
            </a:pPr>
            <a:r>
              <a:rPr sz="3600" dirty="0">
                <a:solidFill>
                  <a:srgbClr val="FFFFFF"/>
                </a:solidFill>
                <a:latin typeface="Aptos"/>
              </a:rPr>
              <a:t>TRAVELLING</a:t>
            </a:r>
          </a:p>
          <a:p>
            <a:pPr>
              <a:spcAft>
                <a:spcPts val="700"/>
              </a:spcAft>
              <a:defRPr sz="3400" b="1">
                <a:solidFill>
                  <a:srgbClr val="F5F8FF"/>
                </a:solidFill>
                <a:latin typeface="Aptos"/>
              </a:defRPr>
            </a:pPr>
            <a:r>
              <a:rPr sz="3600" dirty="0">
                <a:solidFill>
                  <a:srgbClr val="FFFFFF"/>
                </a:solidFill>
                <a:latin typeface="Aptos"/>
              </a:rPr>
              <a:t>SALESMAN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54864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FFFFFF"/>
                </a:solidFill>
                <a:latin typeface="Aptos"/>
              </a:rPr>
              <a:t>Find the shortest tour that visits every city exactly once</a:t>
            </a:r>
          </a:p>
          <a:p>
            <a:pPr>
              <a:spcAft>
                <a:spcPts val="700"/>
              </a:spcAft>
              <a:defRPr sz="1800" b="0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FFFFFF"/>
                </a:solidFill>
                <a:latin typeface="Aptos"/>
              </a:rPr>
              <a:t>and returns to the starting 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282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647395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Generated using ChatGPT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CDEA76E-2DB6-7B8D-1EDC-8B1F97D4882A}"/>
              </a:ext>
            </a:extLst>
          </p:cNvPr>
          <p:cNvSpPr/>
          <p:nvPr/>
        </p:nvSpPr>
        <p:spPr>
          <a:xfrm>
            <a:off x="728133" y="4692226"/>
            <a:ext cx="3473027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Name : HARSHINI S J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PRN : 25070521004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Sem – III , Sec - A</a:t>
            </a:r>
            <a:endParaRPr lang="en-IN" b="1" dirty="0"/>
          </a:p>
        </p:txBody>
      </p:sp>
      <p:sp>
        <p:nvSpPr>
          <p:cNvPr id="22" name="Oval 21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762488" y="6419088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01200" y="1051560"/>
            <a:ext cx="164592" cy="164592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195560" y="1417320"/>
            <a:ext cx="164592" cy="164592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716768" y="1005840"/>
            <a:ext cx="164592" cy="164592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201400" y="1508760"/>
            <a:ext cx="164592" cy="164592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789920" y="2011680"/>
            <a:ext cx="164592" cy="164592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95460" y="1968161"/>
            <a:ext cx="1600200" cy="658368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575036" y="1714500"/>
            <a:ext cx="548640" cy="530352"/>
          </a:xfrm>
          <a:prstGeom prst="rect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597896" y="1892554"/>
            <a:ext cx="292608" cy="201168"/>
          </a:xfrm>
          <a:prstGeom prst="rect">
            <a:avLst/>
          </a:prstGeom>
          <a:solidFill>
            <a:srgbClr val="E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528048" y="2461937"/>
            <a:ext cx="329184" cy="329184"/>
          </a:xfrm>
          <a:prstGeom prst="ellipse">
            <a:avLst/>
          </a:prstGeom>
          <a:solidFill>
            <a:srgbClr val="1E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561320" y="2486660"/>
            <a:ext cx="329184" cy="329184"/>
          </a:xfrm>
          <a:prstGeom prst="ellipse">
            <a:avLst/>
          </a:prstGeom>
          <a:solidFill>
            <a:srgbClr val="1E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Oval 38"/>
          <p:cNvSpPr/>
          <p:nvPr/>
        </p:nvSpPr>
        <p:spPr>
          <a:xfrm>
            <a:off x="9594342" y="2553377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Oval 39"/>
          <p:cNvSpPr/>
          <p:nvPr/>
        </p:nvSpPr>
        <p:spPr>
          <a:xfrm>
            <a:off x="10643616" y="2605532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49640" y="3383280"/>
            <a:ext cx="3200400" cy="7132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NO WRONG TURNS…
JUST OPTIMAL ONES! 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dirty="0">
                <a:solidFill>
                  <a:srgbClr val="172752"/>
                </a:solidFill>
                <a:latin typeface="Aptos"/>
              </a:rPr>
              <a:t>1. What is the Travelling Salesman Problem?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A classic optimization problem in computer science and operations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57800" cy="1828800"/>
          </a:xfrm>
          <a:prstGeom prst="roundRect">
            <a:avLst/>
          </a:prstGeom>
          <a:solidFill>
            <a:schemeClr val="accent3"/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29384"/>
            <a:ext cx="54864" cy="15361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68296"/>
            <a:ext cx="489204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Given a set of cities and the travel cost between each pair, find a minimum-cost tour that visits every city once and returns to the start.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349240" cy="1828800"/>
          </a:xfrm>
          <a:prstGeom prst="roundRect">
            <a:avLst/>
          </a:prstGeom>
          <a:solidFill>
            <a:schemeClr val="accent3"/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929384"/>
            <a:ext cx="54864" cy="1536192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938528"/>
            <a:ext cx="49834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KEY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368296"/>
            <a:ext cx="4983479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Visit every city exactly once</a:t>
            </a:r>
          </a:p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Return to the starting city</a:t>
            </a:r>
          </a:p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Minimize total distance or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In graph theory: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106070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Cities = vertices (nodes)     •     Roads = edges</a:t>
            </a:r>
          </a:p>
          <a:p>
            <a:pPr>
              <a:spcAft>
                <a:spcPts val="7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Edge weights = distance, time, or cost     •     A complete tour = Hamiltonian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235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C14A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The challenge is not finding a tour—it is finding the BEST tour.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3845" y="6322568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18" name="Oval 17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823871" y="6153912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972800" y="5806440"/>
            <a:ext cx="1143000" cy="38404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49940" y="5909733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🗺️ ROUTE!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6788" y="6119367"/>
            <a:ext cx="3010747" cy="448056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235021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Every city gets a visit. No ghosting! 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dirty="0">
                <a:solidFill>
                  <a:srgbClr val="172752"/>
                </a:solidFill>
                <a:latin typeface="Aptos"/>
              </a:rPr>
              <a:t>2. Representing the problem as a weighted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Example: 4 cities and the distance between every 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44751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743200" y="2148840"/>
            <a:ext cx="2743200" cy="59436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04487" y="230886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22776" y="232714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2148840"/>
            <a:ext cx="91440" cy="237744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21807" y="320040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0096" y="321868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25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468880" y="4526280"/>
            <a:ext cx="3108960" cy="9144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13048" y="443484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1336" y="445312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30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468880" y="2743200"/>
            <a:ext cx="274320" cy="187452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95728" y="354330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14016" y="356158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20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2743200"/>
            <a:ext cx="2834640" cy="178308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50207" y="349758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68496" y="351586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15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468880" y="2148840"/>
            <a:ext cx="3017520" cy="246888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767327" y="324612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85615" y="326440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35</a:t>
            </a:r>
          </a:p>
        </p:txBody>
      </p:sp>
      <p:sp>
        <p:nvSpPr>
          <p:cNvPr id="24" name="Oval 23"/>
          <p:cNvSpPr/>
          <p:nvPr/>
        </p:nvSpPr>
        <p:spPr>
          <a:xfrm>
            <a:off x="2468880" y="2468880"/>
            <a:ext cx="548640" cy="548640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1874520"/>
            <a:ext cx="548640" cy="548640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0" y="4251960"/>
            <a:ext cx="548640" cy="548640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2194560" y="4343400"/>
            <a:ext cx="548640" cy="548640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1828800"/>
            <a:ext cx="4023360" cy="347472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06640" y="1975104"/>
            <a:ext cx="54864" cy="318211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8" y="1984248"/>
            <a:ext cx="3657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HOW TO READ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2414016"/>
            <a:ext cx="3657600" cy="2761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A, B, C and D are cities.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Each line is a possible direct trip.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The number on a line is its distance.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A tour uses edges to form one closed loop.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553212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Goal: choose the lowest-cost loop.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9188" y="633679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34" name="Oval 33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693908" y="6284214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931652" y="5943600"/>
            <a:ext cx="1143000" cy="38404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04220" y="6030468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🤖 BEEP!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1" y="6190488"/>
            <a:ext cx="3465576" cy="402336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6268212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Roads have prices. Your wallet is watching. 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FF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FF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dirty="0">
                <a:solidFill>
                  <a:srgbClr val="172752"/>
                </a:solidFill>
                <a:latin typeface="Aptos"/>
              </a:rPr>
              <a:t>3. Worked example: compare possible tours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Use the graph on the previous slide. Since distances are symmetric, reverse tours have the same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920240" y="2331720"/>
            <a:ext cx="2194560" cy="411480"/>
          </a:xfrm>
          <a:prstGeom prst="line">
            <a:avLst/>
          </a:prstGeom>
          <a:ln w="44450">
            <a:solidFill>
              <a:srgbClr val="3FD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88920" y="2400300"/>
            <a:ext cx="457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2331720"/>
            <a:ext cx="0" cy="1965960"/>
          </a:xfrm>
          <a:prstGeom prst="line">
            <a:avLst/>
          </a:prstGeom>
          <a:ln w="44450">
            <a:solidFill>
              <a:srgbClr val="3FD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86200" y="3177540"/>
            <a:ext cx="457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25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920240" y="4297680"/>
            <a:ext cx="2194560" cy="274320"/>
          </a:xfrm>
          <a:prstGeom prst="line">
            <a:avLst/>
          </a:prstGeom>
          <a:ln w="44450">
            <a:solidFill>
              <a:srgbClr val="3FD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88920" y="4297679"/>
            <a:ext cx="457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30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920240" y="2743200"/>
            <a:ext cx="0" cy="1828800"/>
          </a:xfrm>
          <a:prstGeom prst="line">
            <a:avLst/>
          </a:prstGeom>
          <a:ln w="44450">
            <a:solidFill>
              <a:srgbClr val="3FD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520440"/>
            <a:ext cx="457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20</a:t>
            </a:r>
          </a:p>
        </p:txBody>
      </p:sp>
      <p:sp>
        <p:nvSpPr>
          <p:cNvPr id="14" name="Oval 13"/>
          <p:cNvSpPr/>
          <p:nvPr/>
        </p:nvSpPr>
        <p:spPr>
          <a:xfrm>
            <a:off x="1655064" y="2478024"/>
            <a:ext cx="530352" cy="530352"/>
          </a:xfrm>
          <a:prstGeom prst="ellipse">
            <a:avLst/>
          </a:prstGeom>
          <a:solidFill>
            <a:srgbClr val="3FD299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3849624" y="2066543"/>
            <a:ext cx="530352" cy="530352"/>
          </a:xfrm>
          <a:prstGeom prst="ellipse">
            <a:avLst/>
          </a:prstGeom>
          <a:solidFill>
            <a:srgbClr val="3FD299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3849624" y="4032504"/>
            <a:ext cx="530352" cy="530352"/>
          </a:xfrm>
          <a:prstGeom prst="ellipse">
            <a:avLst/>
          </a:prstGeom>
          <a:solidFill>
            <a:srgbClr val="3FD299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1655064" y="4306824"/>
            <a:ext cx="530352" cy="530352"/>
          </a:xfrm>
          <a:prstGeom prst="ellipse">
            <a:avLst/>
          </a:prstGeom>
          <a:solidFill>
            <a:srgbClr val="3FD299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Tour: A → B → C → D →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>
                <a:latin typeface="Aptos"/>
              </a:rPr>
              <a:t>Total = 10 + 35 + 30 + 20 = 95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783080"/>
            <a:ext cx="54864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0" y="1929384"/>
            <a:ext cx="54864" cy="941832"/>
          </a:xfrm>
          <a:prstGeom prst="rect">
            <a:avLst/>
          </a:prstGeom>
          <a:solidFill>
            <a:srgbClr val="3FD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53328" y="1938528"/>
            <a:ext cx="5120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TOUR 1: A → B → C → D →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2368296"/>
            <a:ext cx="5120640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>
                <a:latin typeface="Aptos"/>
              </a:rPr>
              <a:t>10 + 35 + 30 + 20 = 95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246120"/>
            <a:ext cx="54864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3392424"/>
            <a:ext cx="54864" cy="941832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53328" y="3401568"/>
            <a:ext cx="5120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TOUR 2: A → C → B → D →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3831335"/>
            <a:ext cx="5120640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>
                <a:latin typeface="Aptos"/>
              </a:rPr>
              <a:t>15 + 35 + 25 + 20 = 95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4709160"/>
            <a:ext cx="54864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2160" y="4855464"/>
            <a:ext cx="54864" cy="94183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53328" y="4864608"/>
            <a:ext cx="5120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TOUR 3: A → B → D → C →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3328" y="5294376"/>
            <a:ext cx="5120640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>
                <a:latin typeface="Aptos"/>
              </a:rPr>
              <a:t>10 + 25 + 30 + 15 = 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6080760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>
                <a:latin typeface="Aptos"/>
              </a:rPr>
              <a:t>Best tour: Tour 3, with cost 80 units.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641858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34" name="Oval 33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762488" y="6419088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86108" y="6079740"/>
            <a:ext cx="1143000" cy="38404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897954" y="6200986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📦 DELIVER!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6244336"/>
            <a:ext cx="2707301" cy="348488"/>
          </a:xfrm>
          <a:prstGeom prst="roundRect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901" y="6301232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One bad turn = extra </a:t>
            </a:r>
            <a:r>
              <a:rPr sz="1200" b="1" dirty="0" err="1">
                <a:solidFill>
                  <a:srgbClr val="172752"/>
                </a:solidFill>
                <a:latin typeface="Aptos"/>
              </a:rPr>
              <a:t>kilometres</a:t>
            </a:r>
            <a:r>
              <a:rPr sz="1200" b="1" dirty="0">
                <a:solidFill>
                  <a:srgbClr val="172752"/>
                </a:solidFill>
                <a:latin typeface="Aptos"/>
              </a:rPr>
              <a:t>! 😵‍💫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18B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18B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dirty="0">
                <a:solidFill>
                  <a:srgbClr val="172752"/>
                </a:solidFill>
                <a:latin typeface="Aptos"/>
              </a:rPr>
              <a:t>4. How can the TSP be solved?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Different methods trade accuracy for computation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520440" cy="3337560"/>
          </a:xfrm>
          <a:prstGeom prst="roundRect">
            <a:avLst/>
          </a:prstGeom>
          <a:solidFill>
            <a:srgbClr val="FFE8EB"/>
          </a:solidFill>
          <a:ln w="19050">
            <a:solidFill>
              <a:srgbClr val="FF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83664"/>
            <a:ext cx="54864" cy="304495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1  BRUTE 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22576"/>
            <a:ext cx="3154680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Generate every possible tour.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Calculate each tour's cost.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Select the minimum.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Exact, but extremely slow as cities increase.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3337560"/>
          </a:xfrm>
          <a:prstGeom prst="roundRect">
            <a:avLst/>
          </a:prstGeom>
          <a:solidFill>
            <a:srgbClr val="E2F4FF"/>
          </a:solidFill>
          <a:ln w="19050">
            <a:solidFill>
              <a:srgbClr val="FF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83664"/>
            <a:ext cx="54864" cy="3044952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2  DYNAMIC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22576"/>
            <a:ext cx="3154680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Store best partial routes for subsets of cities.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Reuse previous calculations.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Example: Held–Karp algorithm.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Exact, but still costly for large inputs.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520440" cy="3337560"/>
          </a:xfrm>
          <a:prstGeom prst="roundRect">
            <a:avLst/>
          </a:prstGeom>
          <a:solidFill>
            <a:srgbClr val="FFF3D6"/>
          </a:solidFill>
          <a:ln w="19050">
            <a:solidFill>
              <a:srgbClr val="18B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83664"/>
            <a:ext cx="54864" cy="3044952"/>
          </a:xfrm>
          <a:prstGeom prst="rect">
            <a:avLst/>
          </a:prstGeom>
          <a:solidFill>
            <a:srgbClr val="3FD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892807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3  HEURISTICS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22576"/>
            <a:ext cx="3154680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Nearest neighbour: go to the nearest unvisited city.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2-opt: improve a route by swapping edges.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Genetic / ant-colony methods explore many routes.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Fast, but may not guarantee the optimum.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6478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Important: the nearest-neighbour method is a quick heuristic—not a guaranteed shortest-tour algorithm.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3894" y="6372016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20" name="Oval 19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862396" y="6384543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953836" y="5986610"/>
            <a:ext cx="1143000" cy="38404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97955" y="6099385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>
                <a:solidFill>
                  <a:srgbClr val="172752"/>
                </a:solidFill>
                <a:latin typeface="Aptos"/>
              </a:rPr>
              <a:t>🚚 ZOOM!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6153912"/>
            <a:ext cx="4053841" cy="438912"/>
          </a:xfrm>
          <a:prstGeom prst="roundRect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6258901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Brute force: checking EVERY route… send snacks. 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70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70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dirty="0">
                <a:solidFill>
                  <a:srgbClr val="172752"/>
                </a:solidFill>
                <a:latin typeface="Aptos"/>
              </a:rPr>
              <a:t>5. Why is it difficult?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The number of possible tours grows very rapidly.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Brute-force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8463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For n cities, there are (n − 1)! possible fixed-start orders.</a:t>
            </a:r>
          </a:p>
          <a:p>
            <a:pPr>
              <a:spcAft>
                <a:spcPts val="7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For symmetric distances, reverse tours are equivalent.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657600"/>
            <a:ext cx="4389120" cy="3840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69417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5 cities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69417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160520"/>
            <a:ext cx="4389120" cy="3840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19709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8 cities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19709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5,040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63440"/>
            <a:ext cx="4389120" cy="3840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70001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10 cities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70001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362,880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166360"/>
            <a:ext cx="4389120" cy="3840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20293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12 cities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520293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39,916,800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874519"/>
            <a:ext cx="5440680" cy="150876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0" y="2020824"/>
            <a:ext cx="54864" cy="1216151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53328" y="2029967"/>
            <a:ext cx="5074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COMPUTATIONAL COMPLEXITY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2459736"/>
            <a:ext cx="507492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TSP is NP-hard: no polynomial-time exact algorithm is known for the general problem.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657600"/>
            <a:ext cx="5440680" cy="150876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3803904"/>
            <a:ext cx="54864" cy="1216151"/>
          </a:xfrm>
          <a:prstGeom prst="rect">
            <a:avLst/>
          </a:prstGeom>
          <a:solidFill>
            <a:srgbClr val="3FD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53328" y="3813048"/>
            <a:ext cx="5074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PRACTICAL CONSEQUENCE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4242816"/>
            <a:ext cx="507492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Large instances often need approximation, heuristics, or optimization solvers to obtain good routes in reasonable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62356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More cities → many more candidate tours.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1127" y="6371505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30" name="Oval 29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853928" y="6400800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979236" y="6071274"/>
            <a:ext cx="1143000" cy="38404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31821" y="6150186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🗺️ ROUTE!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1" y="6150186"/>
            <a:ext cx="3738880" cy="442638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6258901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Factorials grow faster than your to-do list! 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FF8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FF8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dirty="0">
                <a:solidFill>
                  <a:srgbClr val="172752"/>
                </a:solidFill>
                <a:latin typeface="Aptos"/>
              </a:rPr>
              <a:t>6. Real-world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The same idea appears wherever a route or order must be optimized.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5897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57800" cy="1508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29384"/>
            <a:ext cx="54864" cy="1216151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DELIVERY &amp;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68296"/>
            <a:ext cx="489204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Plan delivery routes to reduce distance, fuel, and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257800" cy="1508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929384"/>
            <a:ext cx="54864" cy="1216151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93852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MANUFACTURING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68296"/>
            <a:ext cx="489204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Choose an efficient path for drilling or machining printed circuit boards.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803904"/>
            <a:ext cx="54864" cy="1216151"/>
          </a:xfrm>
          <a:prstGeom prst="rect">
            <a:avLst/>
          </a:prstGeom>
          <a:solidFill>
            <a:srgbClr val="3FD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81304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42816"/>
            <a:ext cx="489204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Plan a robot's path to visit several inspection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5257800" cy="1508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803904"/>
            <a:ext cx="54864" cy="1216151"/>
          </a:xfrm>
          <a:prstGeom prst="rect">
            <a:avLst/>
          </a:prstGeom>
          <a:solidFill>
            <a:srgbClr val="FF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381304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6478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BIOLOGY &amp;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242816"/>
            <a:ext cx="489204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Order DNA fragments or optimize sequences in related computational tasks.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5668939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Objective: reduce total travel cost while meeting all visit requirements.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7476" y="6404191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24" name="Oval 23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25238" y="6343392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826837" y="5995073"/>
            <a:ext cx="1143000" cy="384048"/>
          </a:xfrm>
          <a:prstGeom prst="roundRect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47156" y="6124783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🤖 BEEP!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181344"/>
            <a:ext cx="3616283" cy="41148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901" y="6258898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Robots need good routes too. Beep boop! 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2B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2B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dirty="0">
                <a:solidFill>
                  <a:srgbClr val="172752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A small problem statement with a big computational challenge.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600" y="6284300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27432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29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39" y="214884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2606040"/>
            <a:ext cx="2468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Cities + distances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331720"/>
            <a:ext cx="594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27432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FFC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2468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Generate / improve tours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31720"/>
            <a:ext cx="594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65960"/>
            <a:ext cx="27432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FD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214884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06040"/>
            <a:ext cx="2468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Lowest-cost tour found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102870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4032504"/>
            <a:ext cx="54864" cy="941832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4041648"/>
            <a:ext cx="9921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REMEMBER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471416"/>
            <a:ext cx="9921240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TSP asks for a minimum-cost Hamiltonian cycle. Exact methods guarantee the optimum but can be expensive; heuristics find good routes faster.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633679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23" name="Oval 22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 flipV="1">
            <a:off x="10808208" y="6281929"/>
            <a:ext cx="45720" cy="45719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808208" y="5749545"/>
            <a:ext cx="1143000" cy="384048"/>
          </a:xfrm>
          <a:prstGeom prst="roundRect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08208" y="5887721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📦 DELIVER!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5308" y="5762413"/>
            <a:ext cx="3108960" cy="411480"/>
          </a:xfrm>
          <a:prstGeom prst="roundRect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5869433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And the winner is… the shortest loop! 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500" b="1">
                <a:solidFill>
                  <a:srgbClr val="30D3BE"/>
                </a:solidFill>
                <a:latin typeface="Aptos"/>
              </a:rPr>
              <a:t>WORKED EXAMPLE • LET’S CALCULATE IT PROPERLY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9647" y="900684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0" dirty="0">
                <a:solidFill>
                  <a:srgbClr val="BECBDC"/>
                </a:solidFill>
                <a:latin typeface="Aptos"/>
              </a:rPr>
              <a:t>Four cities • fixed start at A • each tour returns to 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17320" y="1874519"/>
            <a:ext cx="2240280" cy="0"/>
          </a:xfrm>
          <a:prstGeom prst="line">
            <a:avLst/>
          </a:prstGeom>
          <a:ln w="27940">
            <a:solidFill>
              <a:srgbClr val="FFA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27148" y="1737360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17320" y="1874519"/>
            <a:ext cx="0" cy="2011681"/>
          </a:xfrm>
          <a:prstGeom prst="line">
            <a:avLst/>
          </a:prstGeom>
          <a:ln w="27940">
            <a:solidFill>
              <a:srgbClr val="30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07008" y="2743200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7320" y="1874519"/>
            <a:ext cx="2240280" cy="2011681"/>
          </a:xfrm>
          <a:prstGeom prst="line">
            <a:avLst/>
          </a:prstGeom>
          <a:ln w="27940">
            <a:solidFill>
              <a:srgbClr val="BECB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44268" y="2697480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20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417320" y="1874519"/>
            <a:ext cx="2240280" cy="2011681"/>
          </a:xfrm>
          <a:prstGeom prst="line">
            <a:avLst/>
          </a:prstGeom>
          <a:ln w="27940">
            <a:solidFill>
              <a:srgbClr val="F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91740" y="2697480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35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1874519"/>
            <a:ext cx="0" cy="2011681"/>
          </a:xfrm>
          <a:prstGeom prst="line">
            <a:avLst/>
          </a:prstGeom>
          <a:ln w="27940">
            <a:solidFill>
              <a:srgbClr val="30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47288" y="2743200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3886200"/>
            <a:ext cx="2240280" cy="0"/>
          </a:xfrm>
          <a:prstGeom prst="line">
            <a:avLst/>
          </a:prstGeom>
          <a:ln w="27940">
            <a:solidFill>
              <a:srgbClr val="FFA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27148" y="3749039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30</a:t>
            </a:r>
          </a:p>
        </p:txBody>
      </p:sp>
      <p:sp>
        <p:nvSpPr>
          <p:cNvPr id="16" name="Oval 15"/>
          <p:cNvSpPr/>
          <p:nvPr/>
        </p:nvSpPr>
        <p:spPr>
          <a:xfrm>
            <a:off x="1165860" y="1623060"/>
            <a:ext cx="502920" cy="502920"/>
          </a:xfrm>
          <a:prstGeom prst="ellipse">
            <a:avLst/>
          </a:prstGeom>
          <a:solidFill>
            <a:srgbClr val="30D3BE"/>
          </a:solidFill>
          <a:ln w="1651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B30"/>
                </a:solidFill>
                <a:latin typeface="Aptos Display"/>
              </a:rP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3406140" y="1623060"/>
            <a:ext cx="502920" cy="502920"/>
          </a:xfrm>
          <a:prstGeom prst="ellipse">
            <a:avLst/>
          </a:prstGeom>
          <a:solidFill>
            <a:srgbClr val="5BA0FF"/>
          </a:solidFill>
          <a:ln w="1651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B30"/>
                </a:solidFill>
                <a:latin typeface="Aptos Display"/>
              </a:rPr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1165860" y="3634740"/>
            <a:ext cx="502920" cy="502920"/>
          </a:xfrm>
          <a:prstGeom prst="ellipse">
            <a:avLst/>
          </a:prstGeom>
          <a:solidFill>
            <a:srgbClr val="5BA0FF"/>
          </a:solidFill>
          <a:ln w="1651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B30"/>
                </a:solidFill>
                <a:latin typeface="Aptos Display"/>
              </a:rP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3406140" y="3634740"/>
            <a:ext cx="502920" cy="502920"/>
          </a:xfrm>
          <a:prstGeom prst="ellipse">
            <a:avLst/>
          </a:prstGeom>
          <a:solidFill>
            <a:srgbClr val="5BA0FF"/>
          </a:solidFill>
          <a:ln w="1651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B30"/>
                </a:solidFill>
                <a:latin typeface="Aptos Display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89120"/>
            <a:ext cx="42976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BECBDC"/>
                </a:solidFill>
                <a:latin typeface="Aptos"/>
              </a:rPr>
              <a:t>Edge number = distance between two cities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1325880"/>
            <a:ext cx="3154680" cy="1170432"/>
          </a:xfrm>
          <a:prstGeom prst="roundRect">
            <a:avLst/>
          </a:prstGeom>
          <a:solidFill>
            <a:srgbClr val="1B2C46"/>
          </a:solidFill>
          <a:ln>
            <a:solidFill>
              <a:srgbClr val="F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28616" y="1399032"/>
            <a:ext cx="2898648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F6973"/>
                </a:solidFill>
                <a:latin typeface="Aptos"/>
              </a:rPr>
              <a:t>TOUR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8616" y="1673352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→ B → C → D →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2020824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0">
                <a:solidFill>
                  <a:srgbClr val="BECBDC"/>
                </a:solidFill>
                <a:latin typeface="Aptos"/>
              </a:rPr>
              <a:t>10 + 35 + 30 + 20 = 95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1325880"/>
            <a:ext cx="3154680" cy="1170432"/>
          </a:xfrm>
          <a:prstGeom prst="roundRect">
            <a:avLst/>
          </a:prstGeom>
          <a:solidFill>
            <a:srgbClr val="1B2C46"/>
          </a:solidFill>
          <a:ln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1896" y="1399032"/>
            <a:ext cx="2898648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FA448"/>
                </a:solidFill>
                <a:latin typeface="Aptos"/>
              </a:rPr>
              <a:t>TOUR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1673352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→ C → B → D →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020824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0">
                <a:solidFill>
                  <a:srgbClr val="BECBDC"/>
                </a:solidFill>
                <a:latin typeface="Aptos"/>
              </a:rPr>
              <a:t>15 + 35 + 25 + 20 = 95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743200"/>
            <a:ext cx="3154680" cy="1170432"/>
          </a:xfrm>
          <a:prstGeom prst="roundRect">
            <a:avLst/>
          </a:prstGeom>
          <a:solidFill>
            <a:srgbClr val="1B2C46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28616" y="2816352"/>
            <a:ext cx="2898648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64DC8E"/>
                </a:solidFill>
                <a:latin typeface="Aptos"/>
              </a:rPr>
              <a:t>TOUR 3  ✓ BEST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8616" y="3090672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→ B → D → C →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3438144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0">
                <a:solidFill>
                  <a:srgbClr val="BECBDC"/>
                </a:solidFill>
                <a:latin typeface="Aptos"/>
              </a:rPr>
              <a:t>10 + 25 + 30 + 15 = 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2743200"/>
            <a:ext cx="3154680" cy="1170432"/>
          </a:xfrm>
          <a:prstGeom prst="roundRect">
            <a:avLst/>
          </a:prstGeom>
          <a:solidFill>
            <a:srgbClr val="1B2C46"/>
          </a:solidFill>
          <a:ln>
            <a:solidFill>
              <a:srgbClr val="30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11896" y="2816352"/>
            <a:ext cx="2898648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30D3BE"/>
                </a:solidFill>
                <a:latin typeface="Aptos"/>
              </a:rPr>
              <a:t>REVERSE TOUR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3090672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→ C → D → B →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3438144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0">
                <a:solidFill>
                  <a:srgbClr val="BECBDC"/>
                </a:solidFill>
                <a:latin typeface="Aptos"/>
              </a:rPr>
              <a:t>15 + 30 + 25 + 10 = 80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0600" y="4251960"/>
            <a:ext cx="6537960" cy="594360"/>
          </a:xfrm>
          <a:prstGeom prst="roundRect">
            <a:avLst/>
          </a:prstGeom>
          <a:solidFill>
            <a:srgbClr val="144B42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10912" y="4370832"/>
            <a:ext cx="612648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64DC8E"/>
                </a:solidFill>
                <a:latin typeface="Aptos"/>
              </a:rPr>
              <a:t>MINIMUM TOUR = 80 DISTANCE UNITS  •  Route 3 (or its reverse)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184648"/>
            <a:ext cx="1088136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0" dirty="0">
                <a:solidFill>
                  <a:srgbClr val="F5F8FC"/>
                </a:solidFill>
                <a:latin typeface="Aptos"/>
              </a:rPr>
              <a:t>Why? A–B = 10, B–D = 25, D–C = 30, and C–A = 15. Add them: 10 + 25 + 30 + 15 = 80. The other distinct tours cost 95, so 80 is the global minimum for this 4-city graph.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50292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600" b="1">
                <a:solidFill>
                  <a:srgbClr val="BECBDC"/>
                </a:solidFill>
                <a:latin typeface="Aptos"/>
              </a:rPr>
              <a:t>09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043C2E-74C0-A842-32C8-33E84F02C68E}"/>
              </a:ext>
            </a:extLst>
          </p:cNvPr>
          <p:cNvSpPr txBox="1"/>
          <p:nvPr/>
        </p:nvSpPr>
        <p:spPr>
          <a:xfrm>
            <a:off x="7680960" y="6336792"/>
            <a:ext cx="3429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Generated using ChatGPT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600" b="1">
                <a:solidFill>
                  <a:srgbClr val="30D3BE"/>
                </a:solidFill>
                <a:latin typeface="Aptos"/>
              </a:rPr>
              <a:t>TIME COMPLEXITY • WHY DOES TSP GET HARD?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0">
                <a:solidFill>
                  <a:srgbClr val="BECBDC"/>
                </a:solidFill>
                <a:latin typeface="Aptos"/>
              </a:rPr>
              <a:t>Brute force checks every possible city order; the number of routes explodes as n grows.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4937760" cy="4325112"/>
          </a:xfrm>
          <a:prstGeom prst="roundRect">
            <a:avLst/>
          </a:prstGeom>
          <a:solidFill>
            <a:srgbClr val="92D050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38912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 dirty="0">
                <a:solidFill>
                  <a:schemeClr val="tx2"/>
                </a:solidFill>
                <a:latin typeface="Aptos"/>
              </a:rPr>
              <a:t>BRUTE-FORCE TOUR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3891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(n − 1)!  with the start city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05840"/>
            <a:ext cx="150876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1">
                <a:solidFill>
                  <a:srgbClr val="BECBDC"/>
                </a:solidFill>
                <a:latin typeface="Aptos"/>
              </a:rPr>
              <a:t>5 cities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033272"/>
            <a:ext cx="594360" cy="228600"/>
          </a:xfrm>
          <a:prstGeom prst="rect">
            <a:avLst/>
          </a:prstGeom>
          <a:solidFill>
            <a:srgbClr val="5BA0FF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987552"/>
            <a:ext cx="205740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4! = 24 tours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60" y="2441447"/>
            <a:ext cx="1508760" cy="3477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1" dirty="0">
                <a:solidFill>
                  <a:schemeClr val="accent2"/>
                </a:solidFill>
                <a:latin typeface="Aptos"/>
              </a:rPr>
              <a:t>8 cities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3140" y="2464560"/>
            <a:ext cx="1325880" cy="228600"/>
          </a:xfrm>
          <a:prstGeom prst="rect">
            <a:avLst/>
          </a:prstGeom>
          <a:solidFill>
            <a:srgbClr val="5BA0FF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37460" y="2713905"/>
            <a:ext cx="205740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 dirty="0">
                <a:solidFill>
                  <a:srgbClr val="F5F8FC"/>
                </a:solidFill>
                <a:latin typeface="Aptos"/>
              </a:rPr>
              <a:t>7! = 5,040 tours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1508760" cy="3477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1" dirty="0">
                <a:solidFill>
                  <a:schemeClr val="accent2"/>
                </a:solidFill>
                <a:latin typeface="Aptos"/>
              </a:rPr>
              <a:t>10 cities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3140" y="3344078"/>
            <a:ext cx="2103120" cy="228600"/>
          </a:xfrm>
          <a:prstGeom prst="rect">
            <a:avLst/>
          </a:prstGeom>
          <a:solidFill>
            <a:srgbClr val="5BA0FF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37460" y="3589020"/>
            <a:ext cx="205740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 dirty="0">
                <a:solidFill>
                  <a:srgbClr val="F5F8FC"/>
                </a:solidFill>
                <a:latin typeface="Aptos"/>
              </a:rPr>
              <a:t>9! = 362,880 tours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04522"/>
            <a:ext cx="1508760" cy="3477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1" dirty="0">
                <a:solidFill>
                  <a:schemeClr val="accent2"/>
                </a:solidFill>
                <a:latin typeface="Aptos"/>
              </a:rPr>
              <a:t>12 cities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4159970"/>
            <a:ext cx="2834640" cy="228600"/>
          </a:xfrm>
          <a:prstGeom prst="rect">
            <a:avLst/>
          </a:prstGeom>
          <a:solidFill>
            <a:srgbClr val="5BA0FF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91740" y="4434840"/>
            <a:ext cx="205740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 dirty="0">
                <a:solidFill>
                  <a:srgbClr val="F5F8FC"/>
                </a:solidFill>
                <a:latin typeface="Aptos"/>
              </a:rPr>
              <a:t>11! = 39,916,800 tours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1325880"/>
            <a:ext cx="5760720" cy="4325112"/>
          </a:xfrm>
          <a:prstGeom prst="roundRect">
            <a:avLst/>
          </a:prstGeom>
          <a:solidFill>
            <a:srgbClr val="92D050"/>
          </a:solidFill>
          <a:ln>
            <a:solidFill>
              <a:srgbClr val="30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80760" y="1508760"/>
            <a:ext cx="521208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 dirty="0">
                <a:solidFill>
                  <a:schemeClr val="tx2"/>
                </a:solidFill>
                <a:latin typeface="Aptos"/>
              </a:rPr>
              <a:t>HOW THE METHODS 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965960"/>
            <a:ext cx="5212080" cy="10241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2057400"/>
            <a:ext cx="2011680" cy="2468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 dirty="0">
                <a:solidFill>
                  <a:srgbClr val="FF6973"/>
                </a:solidFill>
                <a:latin typeface="Aptos"/>
              </a:rPr>
              <a:t>BRUTE 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029967"/>
            <a:ext cx="27889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O(n!)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404872"/>
            <a:ext cx="4709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 dirty="0">
                <a:solidFill>
                  <a:srgbClr val="BECBDC"/>
                </a:solidFill>
                <a:latin typeface="Aptos"/>
              </a:rPr>
              <a:t>Exact; checks every tour. Becomes impractical very quickly.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3136391"/>
            <a:ext cx="5212080" cy="10241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3227832"/>
            <a:ext cx="2011680" cy="2468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FA448"/>
                </a:solidFill>
                <a:latin typeface="Aptos"/>
              </a:rPr>
              <a:t>HELD–KARP DP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00399"/>
            <a:ext cx="27889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O(n² · 2ⁿ)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575303"/>
            <a:ext cx="4709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BECBDC"/>
                </a:solidFill>
                <a:latin typeface="Aptos"/>
              </a:rPr>
              <a:t>Exact; reuses subproblems, but still exponential.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4306824"/>
            <a:ext cx="5212080" cy="10241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4398264"/>
            <a:ext cx="2011680" cy="2468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64DC8E"/>
                </a:solidFill>
                <a:latin typeface="Aptos"/>
              </a:rPr>
              <a:t>HEURISTICS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370832"/>
            <a:ext cx="27889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Varies by 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745736"/>
            <a:ext cx="4709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BECBDC"/>
                </a:solidFill>
                <a:latin typeface="Aptos"/>
              </a:rPr>
              <a:t>Often faster for large cases; may not guarantee optimum.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832179"/>
            <a:ext cx="10789920" cy="438912"/>
          </a:xfrm>
          <a:prstGeom prst="roundRect">
            <a:avLst/>
          </a:prstGeom>
          <a:solidFill>
            <a:srgbClr val="42301D"/>
          </a:solidFill>
          <a:ln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895806"/>
            <a:ext cx="1042416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 dirty="0">
                <a:solidFill>
                  <a:srgbClr val="FFA448"/>
                </a:solidFill>
                <a:latin typeface="Aptos"/>
              </a:rPr>
              <a:t>Key idea: brute force is O(n!) time. Held–Karp improves this to O(n² · 2ⁿ), but it is still exponential—not polynomial.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92240"/>
            <a:ext cx="50292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600" b="1" dirty="0">
                <a:solidFill>
                  <a:srgbClr val="BECBDC"/>
                </a:solidFill>
                <a:latin typeface="Aptos"/>
              </a:rPr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B99ABB-93A3-5C04-DE91-4049679F6C65}"/>
              </a:ext>
            </a:extLst>
          </p:cNvPr>
          <p:cNvSpPr txBox="1"/>
          <p:nvPr/>
        </p:nvSpPr>
        <p:spPr>
          <a:xfrm>
            <a:off x="7589520" y="6497145"/>
            <a:ext cx="3429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Generated using ChatGPT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600" b="1" dirty="0">
                <a:solidFill>
                  <a:srgbClr val="30D3BE"/>
                </a:solidFill>
                <a:latin typeface="Aptos"/>
              </a:rPr>
              <a:t>BRUTE-FORCE TSP • THE ALGORITHM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0">
                <a:solidFill>
                  <a:srgbClr val="BECBDC"/>
                </a:solidFill>
                <a:latin typeface="Aptos"/>
              </a:rPr>
              <a:t>Follow the logic from input to the best tour.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148840" cy="713232"/>
          </a:xfrm>
          <a:prstGeom prst="roundRect">
            <a:avLst/>
          </a:prstGeom>
          <a:solidFill>
            <a:srgbClr val="1B2C46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1" y="1499616"/>
            <a:ext cx="2002536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5BA0FF"/>
                </a:solidFill>
                <a:latin typeface="Aptos"/>
              </a:rP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1" y="1764792"/>
            <a:ext cx="2002536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F5F8FC"/>
                </a:solidFill>
                <a:latin typeface="Aptos"/>
              </a:rPr>
              <a:t>Choose start city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417320"/>
            <a:ext cx="2331720" cy="713232"/>
          </a:xfrm>
          <a:prstGeom prst="roundRect">
            <a:avLst/>
          </a:prstGeom>
          <a:solidFill>
            <a:srgbClr val="1B2C46"/>
          </a:solidFill>
          <a:ln>
            <a:solidFill>
              <a:srgbClr val="30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27832" y="1499616"/>
            <a:ext cx="2185415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30D3BE"/>
                </a:solidFill>
                <a:latin typeface="Aptos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1764792"/>
            <a:ext cx="2185415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F5F8FC"/>
                </a:solidFill>
                <a:latin typeface="Aptos"/>
              </a:rPr>
              <a:t>Create a candidate tour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417320"/>
            <a:ext cx="2331720" cy="713232"/>
          </a:xfrm>
          <a:prstGeom prst="roundRect">
            <a:avLst/>
          </a:prstGeom>
          <a:solidFill>
            <a:srgbClr val="1B2C46"/>
          </a:solidFill>
          <a:ln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71032" y="1499616"/>
            <a:ext cx="2185415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FFA448"/>
                </a:solidFill>
                <a:latin typeface="Aptos"/>
              </a:rPr>
              <a:t>CALCULATE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1764792"/>
            <a:ext cx="2185415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F5F8FC"/>
                </a:solidFill>
                <a:latin typeface="Aptos"/>
              </a:rPr>
              <a:t>Add edge 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417320"/>
            <a:ext cx="2651760" cy="713232"/>
          </a:xfrm>
          <a:prstGeom prst="roundRect">
            <a:avLst/>
          </a:prstGeom>
          <a:solidFill>
            <a:srgbClr val="1B2C46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14232" y="1499616"/>
            <a:ext cx="2505456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64DC8E"/>
                </a:solidFill>
                <a:latin typeface="Aptos"/>
              </a:rP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1764792"/>
            <a:ext cx="2505456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F5F8FC"/>
                </a:solidFill>
                <a:latin typeface="Aptos"/>
              </a:rPr>
              <a:t>Is cost lower than best?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1773936"/>
            <a:ext cx="365760" cy="0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1773936"/>
            <a:ext cx="411480" cy="0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9600" y="1773936"/>
            <a:ext cx="411480" cy="0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41080" y="2788920"/>
            <a:ext cx="2651760" cy="749808"/>
          </a:xfrm>
          <a:prstGeom prst="roundRect">
            <a:avLst/>
          </a:prstGeom>
          <a:solidFill>
            <a:srgbClr val="144B42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96528" y="2907792"/>
            <a:ext cx="23317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64DC8E"/>
                </a:solidFill>
                <a:latin typeface="Aptos"/>
              </a:rPr>
              <a:t>YES → Update best tour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2788920"/>
            <a:ext cx="2331720" cy="749808"/>
          </a:xfrm>
          <a:prstGeom prst="roundRect">
            <a:avLst/>
          </a:prstGeom>
          <a:solidFill>
            <a:srgbClr val="1B2C46"/>
          </a:solidFill>
          <a:ln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2907792"/>
            <a:ext cx="20574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FA448"/>
                </a:solidFill>
                <a:latin typeface="Aptos"/>
              </a:rPr>
              <a:t>NO → Keep current best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66960" y="2130552"/>
            <a:ext cx="0" cy="658368"/>
          </a:xfrm>
          <a:prstGeom prst="line">
            <a:avLst/>
          </a:prstGeom>
          <a:ln w="25400">
            <a:solidFill>
              <a:srgbClr val="64D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0" y="2130552"/>
            <a:ext cx="0" cy="658368"/>
          </a:xfrm>
          <a:prstGeom prst="line">
            <a:avLst/>
          </a:prstGeom>
          <a:ln w="25400">
            <a:solidFill>
              <a:srgbClr val="FFA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98280" y="2331720"/>
            <a:ext cx="1645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1">
                <a:solidFill>
                  <a:srgbClr val="64DC8E"/>
                </a:solidFill>
                <a:latin typeface="Aptos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331720"/>
            <a:ext cx="13716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1">
                <a:solidFill>
                  <a:srgbClr val="FFA448"/>
                </a:solidFill>
                <a:latin typeface="Aptos"/>
              </a:rPr>
              <a:t>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4069080"/>
            <a:ext cx="2743200" cy="804672"/>
          </a:xfrm>
          <a:prstGeom prst="roundRect">
            <a:avLst/>
          </a:prstGeom>
          <a:solidFill>
            <a:srgbClr val="1B2C46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10128" y="4187952"/>
            <a:ext cx="242316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5BA0FF"/>
                </a:solidFill>
                <a:latin typeface="Aptos"/>
              </a:rPr>
              <a:t>More tours left?
YES: evaluate next tour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4069080"/>
            <a:ext cx="3017520" cy="804672"/>
          </a:xfrm>
          <a:prstGeom prst="roundRect">
            <a:avLst/>
          </a:prstGeom>
          <a:solidFill>
            <a:srgbClr val="144B42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79792" y="4187952"/>
            <a:ext cx="269748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64DC8E"/>
                </a:solidFill>
                <a:latin typeface="Aptos"/>
              </a:rPr>
              <a:t>NO: output minimum tour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486400" y="3538728"/>
            <a:ext cx="1554480" cy="530352"/>
          </a:xfrm>
          <a:prstGeom prst="line">
            <a:avLst/>
          </a:prstGeom>
          <a:ln w="2286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869680" y="3538728"/>
            <a:ext cx="1097280" cy="530352"/>
          </a:xfrm>
          <a:prstGeom prst="line">
            <a:avLst/>
          </a:prstGeom>
          <a:ln w="22860">
            <a:solidFill>
              <a:srgbClr val="64D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057400" y="4462272"/>
            <a:ext cx="1097280" cy="0"/>
          </a:xfrm>
          <a:prstGeom prst="line">
            <a:avLst/>
          </a:prstGeom>
          <a:ln w="22860">
            <a:solidFill>
              <a:srgbClr val="5B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057400" y="1773936"/>
            <a:ext cx="0" cy="2688336"/>
          </a:xfrm>
          <a:prstGeom prst="line">
            <a:avLst/>
          </a:prstGeom>
          <a:ln w="22860">
            <a:solidFill>
              <a:srgbClr val="5B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5074920"/>
            <a:ext cx="1088136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500" b="0">
                <a:solidFill>
                  <a:srgbClr val="F5F8FC"/>
                </a:solidFill>
                <a:latin typeface="Aptos"/>
              </a:rPr>
              <a:t>For n cities, brute force evaluates (n − 1)! orders when the starting city is fixed. Each tour takes O(n) time to total, so a straightforward implementation is O(n!).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97880"/>
            <a:ext cx="108813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A448"/>
                </a:solidFill>
                <a:latin typeface="Aptos"/>
              </a:rPr>
              <a:t>Remember: an algorithm can be correct and still be too slow for large inputs.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87760" y="6446520"/>
            <a:ext cx="50292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600" b="1" dirty="0">
                <a:solidFill>
                  <a:srgbClr val="BECBDC"/>
                </a:solidFill>
                <a:latin typeface="Aptos"/>
              </a:rPr>
              <a:t>11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38F964-EB1B-F74D-01E0-61F853AC68CB}"/>
              </a:ext>
            </a:extLst>
          </p:cNvPr>
          <p:cNvSpPr txBox="1"/>
          <p:nvPr/>
        </p:nvSpPr>
        <p:spPr>
          <a:xfrm>
            <a:off x="7479792" y="6506289"/>
            <a:ext cx="3429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Generated using ChatGPT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1355</Words>
  <Application>Microsoft Office PowerPoint</Application>
  <PresentationFormat>Widescreen</PresentationFormat>
  <Paragraphs>232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Harshini S J</cp:lastModifiedBy>
  <cp:revision>4</cp:revision>
  <dcterms:created xsi:type="dcterms:W3CDTF">2013-01-27T09:14:16Z</dcterms:created>
  <dcterms:modified xsi:type="dcterms:W3CDTF">2026-10-20T08:29:43Z</dcterms:modified>
  <cp:category/>
</cp:coreProperties>
</file>