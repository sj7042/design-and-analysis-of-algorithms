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ni S J" userId="ca741b92d91f6dd0" providerId="LiveId" clId="{76156CCF-185F-4431-A642-4D8FD8BDBCD5}"/>
    <pc:docChg chg="custSel modSld">
      <pc:chgData name="Harshini S J" userId="ca741b92d91f6dd0" providerId="LiveId" clId="{76156CCF-185F-4431-A642-4D8FD8BDBCD5}" dt="2026-10-15T06:40:03.183" v="16" actId="1076"/>
      <pc:docMkLst>
        <pc:docMk/>
      </pc:docMkLst>
      <pc:sldChg chg="delSp modSp mod">
        <pc:chgData name="Harshini S J" userId="ca741b92d91f6dd0" providerId="LiveId" clId="{76156CCF-185F-4431-A642-4D8FD8BDBCD5}" dt="2026-10-15T06:34:48.874" v="5" actId="255"/>
        <pc:sldMkLst>
          <pc:docMk/>
          <pc:sldMk cId="0" sldId="256"/>
        </pc:sldMkLst>
        <pc:spChg chg="mod">
          <ac:chgData name="Harshini S J" userId="ca741b92d91f6dd0" providerId="LiveId" clId="{76156CCF-185F-4431-A642-4D8FD8BDBCD5}" dt="2026-10-15T06:34:48.874" v="5" actId="255"/>
          <ac:spMkLst>
            <pc:docMk/>
            <pc:sldMk cId="0" sldId="256"/>
            <ac:spMk id="13" creationId="{00000000-0000-0000-0000-000000000000}"/>
          </ac:spMkLst>
        </pc:spChg>
        <pc:spChg chg="mod">
          <ac:chgData name="Harshini S J" userId="ca741b92d91f6dd0" providerId="LiveId" clId="{76156CCF-185F-4431-A642-4D8FD8BDBCD5}" dt="2026-10-09T06:06:01.663" v="0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Harshini S J" userId="ca741b92d91f6dd0" providerId="LiveId" clId="{76156CCF-185F-4431-A642-4D8FD8BDBCD5}" dt="2026-10-09T06:06:20.729" v="3" actId="113"/>
          <ac:spMkLst>
            <pc:docMk/>
            <pc:sldMk cId="0" sldId="256"/>
            <ac:spMk id="21" creationId="{DCDEA76E-2DB6-7B8D-1EDC-8B1F97D4882A}"/>
          </ac:spMkLst>
        </pc:spChg>
      </pc:sldChg>
      <pc:sldChg chg="modSp mod">
        <pc:chgData name="Harshini S J" userId="ca741b92d91f6dd0" providerId="LiveId" clId="{76156CCF-185F-4431-A642-4D8FD8BDBCD5}" dt="2026-10-15T06:39:07.694" v="12" actId="207"/>
        <pc:sldMkLst>
          <pc:docMk/>
          <pc:sldMk cId="0" sldId="258"/>
        </pc:sldMkLst>
        <pc:spChg chg="mod">
          <ac:chgData name="Harshini S J" userId="ca741b92d91f6dd0" providerId="LiveId" clId="{76156CCF-185F-4431-A642-4D8FD8BDBCD5}" dt="2026-10-15T06:38:25.889" v="7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Harshini S J" userId="ca741b92d91f6dd0" providerId="LiveId" clId="{76156CCF-185F-4431-A642-4D8FD8BDBCD5}" dt="2026-10-15T06:38:42.049" v="8" actId="20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Harshini S J" userId="ca741b92d91f6dd0" providerId="LiveId" clId="{76156CCF-185F-4431-A642-4D8FD8BDBCD5}" dt="2026-10-15T06:38:46.918" v="9" actId="20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Harshini S J" userId="ca741b92d91f6dd0" providerId="LiveId" clId="{76156CCF-185F-4431-A642-4D8FD8BDBCD5}" dt="2026-10-15T06:38:55.900" v="11" actId="20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Harshini S J" userId="ca741b92d91f6dd0" providerId="LiveId" clId="{76156CCF-185F-4431-A642-4D8FD8BDBCD5}" dt="2026-10-15T06:38:51.996" v="10" actId="20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Harshini S J" userId="ca741b92d91f6dd0" providerId="LiveId" clId="{76156CCF-185F-4431-A642-4D8FD8BDBCD5}" dt="2026-10-15T06:39:07.694" v="12" actId="207"/>
          <ac:spMkLst>
            <pc:docMk/>
            <pc:sldMk cId="0" sldId="258"/>
            <ac:spMk id="23" creationId="{00000000-0000-0000-0000-000000000000}"/>
          </ac:spMkLst>
        </pc:spChg>
      </pc:sldChg>
      <pc:sldChg chg="modSp mod">
        <pc:chgData name="Harshini S J" userId="ca741b92d91f6dd0" providerId="LiveId" clId="{76156CCF-185F-4431-A642-4D8FD8BDBCD5}" dt="2026-10-15T06:40:03.183" v="16" actId="1076"/>
        <pc:sldMkLst>
          <pc:docMk/>
          <pc:sldMk cId="0" sldId="260"/>
        </pc:sldMkLst>
        <pc:spChg chg="mod">
          <ac:chgData name="Harshini S J" userId="ca741b92d91f6dd0" providerId="LiveId" clId="{76156CCF-185F-4431-A642-4D8FD8BDBCD5}" dt="2026-10-15T06:40:03.183" v="16" actId="1076"/>
          <ac:spMkLst>
            <pc:docMk/>
            <pc:sldMk cId="0" sldId="260"/>
            <ac:spMk id="25" creationId="{00000000-0000-0000-0000-000000000000}"/>
          </ac:spMkLst>
        </pc:spChg>
      </pc:sldChg>
      <pc:sldChg chg="modSp mod">
        <pc:chgData name="Harshini S J" userId="ca741b92d91f6dd0" providerId="LiveId" clId="{76156CCF-185F-4431-A642-4D8FD8BDBCD5}" dt="2026-10-15T06:39:54.612" v="15" actId="1076"/>
        <pc:sldMkLst>
          <pc:docMk/>
          <pc:sldMk cId="0" sldId="261"/>
        </pc:sldMkLst>
        <pc:spChg chg="mod">
          <ac:chgData name="Harshini S J" userId="ca741b92d91f6dd0" providerId="LiveId" clId="{76156CCF-185F-4431-A642-4D8FD8BDBCD5}" dt="2026-10-15T06:39:54.612" v="15" actId="1076"/>
          <ac:spMkLst>
            <pc:docMk/>
            <pc:sldMk cId="0" sldId="261"/>
            <ac:spMk id="35" creationId="{00000000-0000-0000-0000-000000000000}"/>
          </ac:spMkLst>
        </pc:spChg>
      </pc:sldChg>
      <pc:sldChg chg="modSp mod">
        <pc:chgData name="Harshini S J" userId="ca741b92d91f6dd0" providerId="LiveId" clId="{76156CCF-185F-4431-A642-4D8FD8BDBCD5}" dt="2026-10-15T06:39:46.674" v="14" actId="1076"/>
        <pc:sldMkLst>
          <pc:docMk/>
          <pc:sldMk cId="0" sldId="262"/>
        </pc:sldMkLst>
        <pc:spChg chg="mod">
          <ac:chgData name="Harshini S J" userId="ca741b92d91f6dd0" providerId="LiveId" clId="{76156CCF-185F-4431-A642-4D8FD8BDBCD5}" dt="2026-10-15T06:39:46.674" v="14" actId="1076"/>
          <ac:spMkLst>
            <pc:docMk/>
            <pc:sldMk cId="0" sldId="262"/>
            <ac:spMk id="29" creationId="{00000000-0000-0000-0000-000000000000}"/>
          </ac:spMkLst>
        </pc:spChg>
      </pc:sldChg>
      <pc:sldChg chg="modSp mod">
        <pc:chgData name="Harshini S J" userId="ca741b92d91f6dd0" providerId="LiveId" clId="{76156CCF-185F-4431-A642-4D8FD8BDBCD5}" dt="2026-10-15T06:39:36.692" v="13" actId="1076"/>
        <pc:sldMkLst>
          <pc:docMk/>
          <pc:sldMk cId="0" sldId="263"/>
        </pc:sldMkLst>
        <pc:spChg chg="mod">
          <ac:chgData name="Harshini S J" userId="ca741b92d91f6dd0" providerId="LiveId" clId="{76156CCF-185F-4431-A642-4D8FD8BDBCD5}" dt="2026-10-15T06:39:36.692" v="13" actId="1076"/>
          <ac:spMkLst>
            <pc:docMk/>
            <pc:sldMk cId="0" sldId="263"/>
            <ac:spMk id="2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7589520" y="1600200"/>
            <a:ext cx="2011680" cy="411480"/>
          </a:xfrm>
          <a:prstGeom prst="line">
            <a:avLst/>
          </a:prstGeom>
          <a:ln w="35560">
            <a:solidFill>
              <a:srgbClr val="29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601200" y="1600200"/>
            <a:ext cx="1097280" cy="1508760"/>
          </a:xfrm>
          <a:prstGeom prst="line">
            <a:avLst/>
          </a:prstGeom>
          <a:ln w="35560">
            <a:solidFill>
              <a:srgbClr val="29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9418320" y="3108960"/>
            <a:ext cx="1280160" cy="1691640"/>
          </a:xfrm>
          <a:prstGeom prst="line">
            <a:avLst/>
          </a:prstGeom>
          <a:ln w="35560">
            <a:solidFill>
              <a:srgbClr val="29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7406640" y="4160520"/>
            <a:ext cx="2011680" cy="640080"/>
          </a:xfrm>
          <a:prstGeom prst="line">
            <a:avLst/>
          </a:prstGeom>
          <a:ln w="35560">
            <a:solidFill>
              <a:srgbClr val="29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406640" y="2011680"/>
            <a:ext cx="182880" cy="2148840"/>
          </a:xfrm>
          <a:prstGeom prst="line">
            <a:avLst/>
          </a:prstGeom>
          <a:ln w="35560">
            <a:solidFill>
              <a:srgbClr val="29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333488" y="1755648"/>
            <a:ext cx="512064" cy="512064"/>
          </a:xfrm>
          <a:prstGeom prst="ellipse">
            <a:avLst/>
          </a:prstGeom>
          <a:solidFill>
            <a:srgbClr val="3FD299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9345168" y="1344168"/>
            <a:ext cx="512064" cy="512064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10442448" y="2852928"/>
            <a:ext cx="512064" cy="512064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0" name="Oval 9"/>
          <p:cNvSpPr/>
          <p:nvPr/>
        </p:nvSpPr>
        <p:spPr>
          <a:xfrm>
            <a:off x="9162288" y="4544568"/>
            <a:ext cx="512064" cy="512064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11" name="Oval 10"/>
          <p:cNvSpPr/>
          <p:nvPr/>
        </p:nvSpPr>
        <p:spPr>
          <a:xfrm>
            <a:off x="7150607" y="3904487"/>
            <a:ext cx="512064" cy="512064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280160"/>
            <a:ext cx="5943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ALGORITHMS  •  GRAPH THEORY  • 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" y="1892554"/>
            <a:ext cx="621792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5F8FF"/>
                </a:solidFill>
                <a:latin typeface="Aptos"/>
              </a:defRPr>
            </a:pPr>
            <a:r>
              <a:rPr sz="3600" dirty="0">
                <a:solidFill>
                  <a:srgbClr val="FFFFFF"/>
                </a:solidFill>
                <a:latin typeface="Aptos"/>
              </a:rPr>
              <a:t>TRAVELLING</a:t>
            </a:r>
          </a:p>
          <a:p>
            <a:pPr>
              <a:spcAft>
                <a:spcPts val="700"/>
              </a:spcAft>
              <a:defRPr sz="3400" b="1">
                <a:solidFill>
                  <a:srgbClr val="F5F8FF"/>
                </a:solidFill>
                <a:latin typeface="Aptos"/>
              </a:defRPr>
            </a:pPr>
            <a:r>
              <a:rPr sz="3600" dirty="0">
                <a:solidFill>
                  <a:srgbClr val="FFFFFF"/>
                </a:solidFill>
                <a:latin typeface="Aptos"/>
              </a:rPr>
              <a:t>SALESMAN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54864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FFFFFF"/>
                </a:solidFill>
                <a:latin typeface="Aptos"/>
              </a:rPr>
              <a:t>Find the shortest tour that visits every city exactly once</a:t>
            </a:r>
          </a:p>
          <a:p>
            <a:pPr>
              <a:spcAft>
                <a:spcPts val="700"/>
              </a:spcAft>
              <a:defRPr sz="1800" b="0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FFFFFF"/>
                </a:solidFill>
                <a:latin typeface="Aptos"/>
              </a:rPr>
              <a:t>and returns to the starting 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28232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647395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Generated using ChatGPT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CDEA76E-2DB6-7B8D-1EDC-8B1F97D4882A}"/>
              </a:ext>
            </a:extLst>
          </p:cNvPr>
          <p:cNvSpPr/>
          <p:nvPr/>
        </p:nvSpPr>
        <p:spPr>
          <a:xfrm>
            <a:off x="728133" y="4692226"/>
            <a:ext cx="3473027" cy="12801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Name : HARSHINI S J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PRN : 25070521004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ptos"/>
              </a:rPr>
              <a:t>Sem – III , Sec - A</a:t>
            </a:r>
            <a:endParaRPr lang="en-IN" b="1" dirty="0"/>
          </a:p>
        </p:txBody>
      </p:sp>
      <p:sp>
        <p:nvSpPr>
          <p:cNvPr id="22" name="Oval 21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762488" y="6419088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601200" y="1051560"/>
            <a:ext cx="164592" cy="164592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195560" y="1417320"/>
            <a:ext cx="164592" cy="164592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716768" y="1005840"/>
            <a:ext cx="164592" cy="164592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201400" y="1508760"/>
            <a:ext cx="164592" cy="164592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789920" y="2011680"/>
            <a:ext cx="164592" cy="164592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395460" y="1968161"/>
            <a:ext cx="1600200" cy="658368"/>
          </a:xfrm>
          <a:prstGeom prst="round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575036" y="1714500"/>
            <a:ext cx="548640" cy="530352"/>
          </a:xfrm>
          <a:prstGeom prst="rect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597896" y="1892554"/>
            <a:ext cx="292608" cy="201168"/>
          </a:xfrm>
          <a:prstGeom prst="rect">
            <a:avLst/>
          </a:prstGeom>
          <a:solidFill>
            <a:srgbClr val="E6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528048" y="2461937"/>
            <a:ext cx="329184" cy="329184"/>
          </a:xfrm>
          <a:prstGeom prst="ellipse">
            <a:avLst/>
          </a:prstGeom>
          <a:solidFill>
            <a:srgbClr val="1E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561320" y="2486660"/>
            <a:ext cx="329184" cy="329184"/>
          </a:xfrm>
          <a:prstGeom prst="ellipse">
            <a:avLst/>
          </a:prstGeom>
          <a:solidFill>
            <a:srgbClr val="1E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9" name="Oval 38"/>
          <p:cNvSpPr/>
          <p:nvPr/>
        </p:nvSpPr>
        <p:spPr>
          <a:xfrm>
            <a:off x="9594342" y="2553377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Oval 39"/>
          <p:cNvSpPr/>
          <p:nvPr/>
        </p:nvSpPr>
        <p:spPr>
          <a:xfrm>
            <a:off x="10643616" y="2605532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49640" y="3383280"/>
            <a:ext cx="3200400" cy="71323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NO WRONG TURNS…
JUST OPTIMAL ONES! 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1. What is the Travelling Salesman Problem?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A classic optimization problem in computer science and operations research.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57800" cy="1828800"/>
          </a:xfrm>
          <a:prstGeom prst="roundRect">
            <a:avLst/>
          </a:prstGeom>
          <a:solidFill>
            <a:schemeClr val="accent3"/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29384"/>
            <a:ext cx="54864" cy="15361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93852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68296"/>
            <a:ext cx="4892040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Given a set of cities and the travel cost between each pair, find a minimum-cost tour that visits every city once and returns to the start.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349240" cy="1828800"/>
          </a:xfrm>
          <a:prstGeom prst="roundRect">
            <a:avLst/>
          </a:prstGeom>
          <a:solidFill>
            <a:schemeClr val="accent3"/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929384"/>
            <a:ext cx="54864" cy="1536192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938528"/>
            <a:ext cx="498347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KEY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368296"/>
            <a:ext cx="4983479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Visit every city exactly once</a:t>
            </a:r>
          </a:p>
          <a:p>
            <a:pPr>
              <a:spcAft>
                <a:spcPts val="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Return to the starting city</a:t>
            </a:r>
          </a:p>
          <a:p>
            <a:pPr>
              <a:spcAft>
                <a:spcPts val="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Minimize total distance or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69080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In graph theory: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1060704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Cities = vertices (nodes)     •     Roads = edges</a:t>
            </a:r>
          </a:p>
          <a:p>
            <a:pPr>
              <a:spcAft>
                <a:spcPts val="700"/>
              </a:spcAft>
              <a:defRPr sz="1800" b="0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Edge weights = distance, time, or cost     •     A complete tour = Hamiltonian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62356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C14A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The challenge is not finding a tour—it is finding the BEST tour.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647395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Generated using ChatGPT</a:t>
            </a:r>
          </a:p>
        </p:txBody>
      </p:sp>
      <p:sp>
        <p:nvSpPr>
          <p:cNvPr id="18" name="Oval 17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762488" y="6419088"/>
            <a:ext cx="91440" cy="91440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972800" y="5806440"/>
            <a:ext cx="1143000" cy="38404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49940" y="5909733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 dirty="0">
                <a:solidFill>
                  <a:srgbClr val="172752"/>
                </a:solidFill>
                <a:latin typeface="Aptos"/>
              </a:rPr>
              <a:t>🗺️ ROUTE!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6788" y="6119367"/>
            <a:ext cx="3010747" cy="448056"/>
          </a:xfrm>
          <a:prstGeom prst="round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6235021"/>
            <a:ext cx="76352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200" b="1" dirty="0">
                <a:solidFill>
                  <a:srgbClr val="172752"/>
                </a:solidFill>
                <a:latin typeface="Aptos"/>
              </a:rPr>
              <a:t>Every city gets a visit. No ghosting! 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" y="228600"/>
            <a:ext cx="128016" cy="640080"/>
          </a:xfrm>
          <a:prstGeom prst="round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0040" y="6665976"/>
            <a:ext cx="11475720" cy="41148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2. Representing the problem as a weighted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Example: 4 cities and the distance between every pair.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743200" y="2148840"/>
            <a:ext cx="2743200" cy="594360"/>
          </a:xfrm>
          <a:prstGeom prst="line">
            <a:avLst/>
          </a:prstGeom>
          <a:ln w="22860">
            <a:solidFill>
              <a:srgbClr val="566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904487" y="2308860"/>
            <a:ext cx="420624" cy="274320"/>
          </a:xfrm>
          <a:prstGeom prst="roundRect">
            <a:avLst/>
          </a:prstGeom>
          <a:solidFill>
            <a:srgbClr val="162348"/>
          </a:solidFill>
          <a:ln>
            <a:solidFill>
              <a:srgbClr val="56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22776" y="2327148"/>
            <a:ext cx="384048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chemeClr val="bg2"/>
                </a:solidFill>
                <a:latin typeface="Aptos"/>
              </a:rPr>
              <a:t>10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0" y="2148840"/>
            <a:ext cx="91440" cy="2377440"/>
          </a:xfrm>
          <a:prstGeom prst="line">
            <a:avLst/>
          </a:prstGeom>
          <a:ln w="22860">
            <a:solidFill>
              <a:srgbClr val="566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21807" y="3200400"/>
            <a:ext cx="420624" cy="274320"/>
          </a:xfrm>
          <a:prstGeom prst="roundRect">
            <a:avLst/>
          </a:prstGeom>
          <a:solidFill>
            <a:srgbClr val="162348"/>
          </a:solidFill>
          <a:ln>
            <a:solidFill>
              <a:srgbClr val="56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0096" y="3218688"/>
            <a:ext cx="384048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chemeClr val="bg2"/>
                </a:solidFill>
                <a:latin typeface="Aptos"/>
              </a:rPr>
              <a:t>25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468880" y="4526280"/>
            <a:ext cx="3108960" cy="91440"/>
          </a:xfrm>
          <a:prstGeom prst="line">
            <a:avLst/>
          </a:prstGeom>
          <a:ln w="22860">
            <a:solidFill>
              <a:srgbClr val="566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13048" y="4434840"/>
            <a:ext cx="420624" cy="274320"/>
          </a:xfrm>
          <a:prstGeom prst="roundRect">
            <a:avLst/>
          </a:prstGeom>
          <a:solidFill>
            <a:srgbClr val="162348"/>
          </a:solidFill>
          <a:ln>
            <a:solidFill>
              <a:srgbClr val="56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31336" y="4453128"/>
            <a:ext cx="384048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chemeClr val="bg2"/>
                </a:solidFill>
                <a:latin typeface="Aptos"/>
              </a:rPr>
              <a:t>30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468880" y="2743200"/>
            <a:ext cx="274320" cy="1874520"/>
          </a:xfrm>
          <a:prstGeom prst="line">
            <a:avLst/>
          </a:prstGeom>
          <a:ln w="22860">
            <a:solidFill>
              <a:srgbClr val="566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95728" y="3543300"/>
            <a:ext cx="420624" cy="274320"/>
          </a:xfrm>
          <a:prstGeom prst="roundRect">
            <a:avLst/>
          </a:prstGeom>
          <a:solidFill>
            <a:srgbClr val="162348"/>
          </a:solidFill>
          <a:ln>
            <a:solidFill>
              <a:srgbClr val="56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14016" y="3561588"/>
            <a:ext cx="384048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chemeClr val="bg2"/>
                </a:solidFill>
                <a:latin typeface="Aptos"/>
              </a:rPr>
              <a:t>20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2743200"/>
            <a:ext cx="2834640" cy="1783080"/>
          </a:xfrm>
          <a:prstGeom prst="line">
            <a:avLst/>
          </a:prstGeom>
          <a:ln w="22860">
            <a:solidFill>
              <a:srgbClr val="566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950207" y="3497580"/>
            <a:ext cx="420624" cy="274320"/>
          </a:xfrm>
          <a:prstGeom prst="roundRect">
            <a:avLst/>
          </a:prstGeom>
          <a:solidFill>
            <a:srgbClr val="162348"/>
          </a:solidFill>
          <a:ln>
            <a:solidFill>
              <a:srgbClr val="56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68496" y="3515868"/>
            <a:ext cx="384048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chemeClr val="bg2"/>
                </a:solidFill>
                <a:latin typeface="Aptos"/>
              </a:rPr>
              <a:t>15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468880" y="2148840"/>
            <a:ext cx="3017520" cy="2468880"/>
          </a:xfrm>
          <a:prstGeom prst="line">
            <a:avLst/>
          </a:prstGeom>
          <a:ln w="22860">
            <a:solidFill>
              <a:srgbClr val="566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767327" y="3246120"/>
            <a:ext cx="420624" cy="274320"/>
          </a:xfrm>
          <a:prstGeom prst="roundRect">
            <a:avLst/>
          </a:prstGeom>
          <a:solidFill>
            <a:srgbClr val="162348"/>
          </a:solidFill>
          <a:ln>
            <a:solidFill>
              <a:srgbClr val="566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85615" y="3264408"/>
            <a:ext cx="384048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chemeClr val="bg2"/>
                </a:solidFill>
                <a:latin typeface="Aptos"/>
              </a:rPr>
              <a:t>35</a:t>
            </a:r>
          </a:p>
        </p:txBody>
      </p:sp>
      <p:sp>
        <p:nvSpPr>
          <p:cNvPr id="24" name="Oval 23"/>
          <p:cNvSpPr/>
          <p:nvPr/>
        </p:nvSpPr>
        <p:spPr>
          <a:xfrm>
            <a:off x="2468880" y="2468880"/>
            <a:ext cx="548640" cy="548640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5212080" y="1874520"/>
            <a:ext cx="548640" cy="548640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5303520" y="4251960"/>
            <a:ext cx="548640" cy="548640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2194560" y="4343400"/>
            <a:ext cx="548640" cy="548640"/>
          </a:xfrm>
          <a:prstGeom prst="ellipse">
            <a:avLst/>
          </a:prstGeom>
          <a:solidFill>
            <a:srgbClr val="3068DC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1828800"/>
            <a:ext cx="4023360" cy="3474720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06640" y="1975104"/>
            <a:ext cx="54864" cy="318211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07808" y="1984248"/>
            <a:ext cx="3657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9CFDC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HOW TO READ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7808" y="2414016"/>
            <a:ext cx="3657600" cy="27614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A, B, C and D are cities.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Each line is a possible direct trip.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The number on a line is its distance.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A tour uses edges to form one closed loop.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5532120"/>
            <a:ext cx="3657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Goal: choose the lowest-cost loop.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647395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Generated using ChatGPT</a:t>
            </a:r>
          </a:p>
        </p:txBody>
      </p:sp>
      <p:sp>
        <p:nvSpPr>
          <p:cNvPr id="34" name="Oval 33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762488" y="6419088"/>
            <a:ext cx="91440" cy="91440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931652" y="5943600"/>
            <a:ext cx="1143000" cy="38404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904220" y="6030468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 dirty="0">
                <a:solidFill>
                  <a:srgbClr val="172752"/>
                </a:solidFill>
                <a:latin typeface="Aptos"/>
              </a:rPr>
              <a:t>🤖 BEEP!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1" y="6190488"/>
            <a:ext cx="3465576" cy="402336"/>
          </a:xfrm>
          <a:prstGeom prst="round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" y="6268212"/>
            <a:ext cx="76352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200" b="1" dirty="0">
                <a:solidFill>
                  <a:srgbClr val="172752"/>
                </a:solidFill>
                <a:latin typeface="Aptos"/>
              </a:rPr>
              <a:t>Roads have prices. Your wallet is watching. 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9456" y="228600"/>
            <a:ext cx="128016" cy="640080"/>
          </a:xfrm>
          <a:prstGeom prst="roundRect">
            <a:avLst/>
          </a:prstGeom>
          <a:solidFill>
            <a:srgbClr val="FF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20040" y="6665976"/>
            <a:ext cx="11475720" cy="41148"/>
          </a:xfrm>
          <a:prstGeom prst="rect">
            <a:avLst/>
          </a:prstGeom>
          <a:solidFill>
            <a:srgbClr val="FFB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3. Worked example: compare possible tours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Use the graph on the previous slide. Since distances are symmetric, reverse tours have the same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920240" y="2331720"/>
            <a:ext cx="2194560" cy="411480"/>
          </a:xfrm>
          <a:prstGeom prst="line">
            <a:avLst/>
          </a:prstGeom>
          <a:ln w="44450">
            <a:solidFill>
              <a:srgbClr val="3FD2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88920" y="2400300"/>
            <a:ext cx="457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2331720"/>
            <a:ext cx="0" cy="1965960"/>
          </a:xfrm>
          <a:prstGeom prst="line">
            <a:avLst/>
          </a:prstGeom>
          <a:ln w="44450">
            <a:solidFill>
              <a:srgbClr val="3FD2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86200" y="3177540"/>
            <a:ext cx="457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25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920240" y="4297680"/>
            <a:ext cx="2194560" cy="274320"/>
          </a:xfrm>
          <a:prstGeom prst="line">
            <a:avLst/>
          </a:prstGeom>
          <a:ln w="44450">
            <a:solidFill>
              <a:srgbClr val="3FD2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88920" y="4297679"/>
            <a:ext cx="457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30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920240" y="2743200"/>
            <a:ext cx="0" cy="1828800"/>
          </a:xfrm>
          <a:prstGeom prst="line">
            <a:avLst/>
          </a:prstGeom>
          <a:ln w="44450">
            <a:solidFill>
              <a:srgbClr val="3FD2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1640" y="3520440"/>
            <a:ext cx="457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20</a:t>
            </a:r>
          </a:p>
        </p:txBody>
      </p:sp>
      <p:sp>
        <p:nvSpPr>
          <p:cNvPr id="14" name="Oval 13"/>
          <p:cNvSpPr/>
          <p:nvPr/>
        </p:nvSpPr>
        <p:spPr>
          <a:xfrm>
            <a:off x="1655064" y="2478024"/>
            <a:ext cx="530352" cy="530352"/>
          </a:xfrm>
          <a:prstGeom prst="ellipse">
            <a:avLst/>
          </a:prstGeom>
          <a:solidFill>
            <a:srgbClr val="3FD299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A</a:t>
            </a:r>
          </a:p>
        </p:txBody>
      </p:sp>
      <p:sp>
        <p:nvSpPr>
          <p:cNvPr id="15" name="Oval 14"/>
          <p:cNvSpPr/>
          <p:nvPr/>
        </p:nvSpPr>
        <p:spPr>
          <a:xfrm>
            <a:off x="3849624" y="2066543"/>
            <a:ext cx="530352" cy="530352"/>
          </a:xfrm>
          <a:prstGeom prst="ellipse">
            <a:avLst/>
          </a:prstGeom>
          <a:solidFill>
            <a:srgbClr val="3FD299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3849624" y="4032504"/>
            <a:ext cx="530352" cy="530352"/>
          </a:xfrm>
          <a:prstGeom prst="ellipse">
            <a:avLst/>
          </a:prstGeom>
          <a:solidFill>
            <a:srgbClr val="3FD299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1655064" y="4306824"/>
            <a:ext cx="530352" cy="530352"/>
          </a:xfrm>
          <a:prstGeom prst="ellipse">
            <a:avLst/>
          </a:prstGeom>
          <a:solidFill>
            <a:srgbClr val="3FD299"/>
          </a:solidFill>
          <a:ln>
            <a:solidFill>
              <a:srgbClr val="F5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49377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3FD299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Tour: A → B → C → D →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49377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>
                <a:latin typeface="Aptos"/>
              </a:rPr>
              <a:t>Total = 10 + 35 + 30 + 20 = 95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783080"/>
            <a:ext cx="5486400" cy="12344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52160" y="1929384"/>
            <a:ext cx="54864" cy="941832"/>
          </a:xfrm>
          <a:prstGeom prst="rect">
            <a:avLst/>
          </a:prstGeom>
          <a:solidFill>
            <a:srgbClr val="3FD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53328" y="1938528"/>
            <a:ext cx="51206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FD299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TOUR 1: A → B → C → D →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2368296"/>
            <a:ext cx="5120640" cy="521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>
                <a:latin typeface="Aptos"/>
              </a:rPr>
              <a:t>10 + 35 + 30 + 20 = 95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246120"/>
            <a:ext cx="5486400" cy="12344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0" y="3392424"/>
            <a:ext cx="54864" cy="941832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53328" y="3401568"/>
            <a:ext cx="51206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TOUR 2: A → C → B → D →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3831335"/>
            <a:ext cx="5120640" cy="521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>
                <a:latin typeface="Aptos"/>
              </a:rPr>
              <a:t>15 + 35 + 25 + 20 = 95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4709160"/>
            <a:ext cx="5486400" cy="12344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52160" y="4855464"/>
            <a:ext cx="54864" cy="94183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53328" y="4864608"/>
            <a:ext cx="51206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TOUR 3: A → B → D → C → 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3328" y="5294376"/>
            <a:ext cx="5120640" cy="521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>
                <a:latin typeface="Aptos"/>
              </a:rPr>
              <a:t>10 + 25 + 30 + 15 = 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6080760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>
                <a:latin typeface="Aptos"/>
              </a:rPr>
              <a:t>Best tour: Tour 3, with cost 80 units.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647395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Generated using ChatGPT</a:t>
            </a:r>
          </a:p>
        </p:txBody>
      </p:sp>
      <p:sp>
        <p:nvSpPr>
          <p:cNvPr id="34" name="Oval 33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762488" y="6419088"/>
            <a:ext cx="91440" cy="91440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886108" y="6079740"/>
            <a:ext cx="1143000" cy="38404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897954" y="6200986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 dirty="0">
                <a:solidFill>
                  <a:srgbClr val="172752"/>
                </a:solidFill>
                <a:latin typeface="Aptos"/>
              </a:rPr>
              <a:t>📦 DELIVER!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6244336"/>
            <a:ext cx="2707301" cy="348488"/>
          </a:xfrm>
          <a:prstGeom prst="roundRect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901" y="6301232"/>
            <a:ext cx="76352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200" b="1" dirty="0">
                <a:solidFill>
                  <a:srgbClr val="172752"/>
                </a:solidFill>
                <a:latin typeface="Aptos"/>
              </a:rPr>
              <a:t>One bad turn = extra </a:t>
            </a:r>
            <a:r>
              <a:rPr sz="1200" b="1" dirty="0" err="1">
                <a:solidFill>
                  <a:srgbClr val="172752"/>
                </a:solidFill>
                <a:latin typeface="Aptos"/>
              </a:rPr>
              <a:t>kilometres</a:t>
            </a:r>
            <a:r>
              <a:rPr sz="1200" b="1" dirty="0">
                <a:solidFill>
                  <a:srgbClr val="172752"/>
                </a:solidFill>
                <a:latin typeface="Aptos"/>
              </a:rPr>
              <a:t>! 😵‍💫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9456" y="228600"/>
            <a:ext cx="128016" cy="640080"/>
          </a:xfrm>
          <a:prstGeom prst="roundRect">
            <a:avLst/>
          </a:prstGeom>
          <a:solidFill>
            <a:srgbClr val="18B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20040" y="6665976"/>
            <a:ext cx="11475720" cy="41148"/>
          </a:xfrm>
          <a:prstGeom prst="rect">
            <a:avLst/>
          </a:prstGeom>
          <a:solidFill>
            <a:srgbClr val="18B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4. How can the TSP be solved?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Different methods trade accuracy for computation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3520440" cy="3337560"/>
          </a:xfrm>
          <a:prstGeom prst="roundRect">
            <a:avLst/>
          </a:prstGeom>
          <a:solidFill>
            <a:srgbClr val="FFE8EB"/>
          </a:solidFill>
          <a:ln w="19050">
            <a:solidFill>
              <a:srgbClr val="FF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83664"/>
            <a:ext cx="54864" cy="304495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892807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1  BRUTE 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322576"/>
            <a:ext cx="3154680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Generate every possible tour.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Calculate each tour's cost.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Select the minimum.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Exact, but extremely slow as cities increase.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20440" cy="3337560"/>
          </a:xfrm>
          <a:prstGeom prst="roundRect">
            <a:avLst/>
          </a:prstGeom>
          <a:solidFill>
            <a:srgbClr val="E2F4FF"/>
          </a:solidFill>
          <a:ln w="19050">
            <a:solidFill>
              <a:srgbClr val="FFB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883664"/>
            <a:ext cx="54864" cy="3044952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2  DYNAMIC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322576"/>
            <a:ext cx="3154680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Store best partial routes for subsets of cities.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Reuse previous calculations.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Example: Held–Karp algorithm.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Exact, but still costly for large inputs.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520440" cy="3337560"/>
          </a:xfrm>
          <a:prstGeom prst="roundRect">
            <a:avLst/>
          </a:prstGeom>
          <a:solidFill>
            <a:srgbClr val="FFF3D6"/>
          </a:solidFill>
          <a:ln w="19050">
            <a:solidFill>
              <a:srgbClr val="18B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883664"/>
            <a:ext cx="54864" cy="3044952"/>
          </a:xfrm>
          <a:prstGeom prst="rect">
            <a:avLst/>
          </a:prstGeom>
          <a:solidFill>
            <a:srgbClr val="3FD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892807"/>
            <a:ext cx="315468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FD299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3  HEURISTICS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322576"/>
            <a:ext cx="3154680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Nearest neighbour: go to the nearest unvisited city.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2-opt: improve a route by swapping edges.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• Genetic / ant-colony methods explore many routes.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Fast, but may not guarantee the optimum.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6478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Important: the nearest-neighbour method is a quick heuristic—not a guaranteed shortest-tour algorithm.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647395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Generated using ChatGPT</a:t>
            </a:r>
          </a:p>
        </p:txBody>
      </p:sp>
      <p:sp>
        <p:nvSpPr>
          <p:cNvPr id="20" name="Oval 19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862396" y="6384543"/>
            <a:ext cx="91440" cy="91440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953836" y="5986610"/>
            <a:ext cx="1143000" cy="38404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897955" y="6099385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>
                <a:solidFill>
                  <a:srgbClr val="172752"/>
                </a:solidFill>
                <a:latin typeface="Aptos"/>
              </a:rPr>
              <a:t>🚚 ZOOM!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6153912"/>
            <a:ext cx="4053841" cy="438912"/>
          </a:xfrm>
          <a:prstGeom prst="roundRect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6258901"/>
            <a:ext cx="76352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200" b="1" dirty="0">
                <a:solidFill>
                  <a:srgbClr val="172752"/>
                </a:solidFill>
                <a:latin typeface="Aptos"/>
              </a:rPr>
              <a:t>Brute force: checking EVERY route… send snacks. 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" y="228600"/>
            <a:ext cx="128016" cy="640080"/>
          </a:xfrm>
          <a:prstGeom prst="roundRect">
            <a:avLst/>
          </a:prstGeom>
          <a:solidFill>
            <a:srgbClr val="705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6665976"/>
            <a:ext cx="11475720" cy="41148"/>
          </a:xfrm>
          <a:prstGeom prst="rect">
            <a:avLst/>
          </a:prstGeom>
          <a:solidFill>
            <a:srgbClr val="705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5. Why is it difficult?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The number of possible tours grows very rapidly.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28232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Brute-force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84632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For n cities, there are (n − 1)! possible fixed-start orders.</a:t>
            </a:r>
          </a:p>
          <a:p>
            <a:pPr>
              <a:spcAft>
                <a:spcPts val="7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For symmetric distances, reverse tours are equivalent.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657600"/>
            <a:ext cx="4389120" cy="38404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69417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5 cities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694176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160520"/>
            <a:ext cx="4389120" cy="38404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19709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8 cities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197096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5,040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663440"/>
            <a:ext cx="4389120" cy="38404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70001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10 cities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700016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362,880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166360"/>
            <a:ext cx="4389120" cy="38404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5202936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12 cities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5202936"/>
            <a:ext cx="2103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39,916,800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874519"/>
            <a:ext cx="5440680" cy="150876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52160" y="2020824"/>
            <a:ext cx="54864" cy="1216151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53328" y="2029967"/>
            <a:ext cx="5074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14A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COMPUTATIONAL COMPLEXITY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2459736"/>
            <a:ext cx="5074920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TSP is NP-hard: no polynomial-time exact algorithm is known for the general problem.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3657600"/>
            <a:ext cx="5440680" cy="150876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0" y="3803904"/>
            <a:ext cx="54864" cy="1216151"/>
          </a:xfrm>
          <a:prstGeom prst="rect">
            <a:avLst/>
          </a:prstGeom>
          <a:solidFill>
            <a:srgbClr val="3FD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53328" y="3813048"/>
            <a:ext cx="5074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FD299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PRACTICAL CONSEQUENCE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4242816"/>
            <a:ext cx="5074920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Large instances often need approximation, heuristics, or optimization solvers to obtain good routes in reasonable time.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5623560"/>
            <a:ext cx="51206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More cities → many more candidate tours.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647395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Generated using ChatGPT</a:t>
            </a:r>
          </a:p>
        </p:txBody>
      </p:sp>
      <p:sp>
        <p:nvSpPr>
          <p:cNvPr id="30" name="Oval 29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853928" y="6400800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979236" y="6071274"/>
            <a:ext cx="1143000" cy="384048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31821" y="6150186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 dirty="0">
                <a:solidFill>
                  <a:srgbClr val="172752"/>
                </a:solidFill>
                <a:latin typeface="Aptos"/>
              </a:rPr>
              <a:t>🗺️ ROUTE!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1" y="6150186"/>
            <a:ext cx="3738880" cy="442638"/>
          </a:xfrm>
          <a:prstGeom prst="round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" y="6258901"/>
            <a:ext cx="76352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200" b="1" dirty="0">
                <a:solidFill>
                  <a:srgbClr val="172752"/>
                </a:solidFill>
                <a:latin typeface="Aptos"/>
              </a:rPr>
              <a:t>Factorials grow faster than your to-do list! 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9456" y="228600"/>
            <a:ext cx="128016" cy="640080"/>
          </a:xfrm>
          <a:prstGeom prst="roundRect">
            <a:avLst/>
          </a:prstGeom>
          <a:solidFill>
            <a:srgbClr val="FF8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0040" y="6665976"/>
            <a:ext cx="11475720" cy="41148"/>
          </a:xfrm>
          <a:prstGeom prst="rect">
            <a:avLst/>
          </a:prstGeom>
          <a:solidFill>
            <a:srgbClr val="FF8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6. Real-world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The same idea appears wherever a route or order must be optimized.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5897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257800" cy="150876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29384"/>
            <a:ext cx="54864" cy="1216151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DELIVERY &amp; LOGISTICS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68296"/>
            <a:ext cx="4892040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Plan delivery routes to reduce distance, fuel, and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257800" cy="150876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929384"/>
            <a:ext cx="54864" cy="1216151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93852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MANUFACTURING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368296"/>
            <a:ext cx="4892040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Choose an efficient path for drilling or machining printed circuit boards.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5257800" cy="150876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803904"/>
            <a:ext cx="54864" cy="1216151"/>
          </a:xfrm>
          <a:prstGeom prst="rect">
            <a:avLst/>
          </a:prstGeom>
          <a:solidFill>
            <a:srgbClr val="3FD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6968" y="381304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FD299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ROBOTICS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242816"/>
            <a:ext cx="4892040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Plan a robot's path to visit several inspection 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57600"/>
            <a:ext cx="5257800" cy="150876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3803904"/>
            <a:ext cx="54864" cy="1216151"/>
          </a:xfrm>
          <a:prstGeom prst="rect">
            <a:avLst/>
          </a:prstGeom>
          <a:solidFill>
            <a:srgbClr val="FF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3813048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6478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BIOLOGY &amp;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242816"/>
            <a:ext cx="4892040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Order DNA fragments or optimize sequences in related computational tasks.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978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Objective: reduce total travel cost while meeting all visit requirements.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6440084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Generated using ChatGPT</a:t>
            </a:r>
          </a:p>
        </p:txBody>
      </p:sp>
      <p:sp>
        <p:nvSpPr>
          <p:cNvPr id="24" name="Oval 23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725238" y="6343392"/>
            <a:ext cx="91440" cy="91440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826837" y="5995073"/>
            <a:ext cx="1143000" cy="384048"/>
          </a:xfrm>
          <a:prstGeom prst="roundRect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847156" y="6124783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 dirty="0">
                <a:solidFill>
                  <a:srgbClr val="172752"/>
                </a:solidFill>
                <a:latin typeface="Aptos"/>
              </a:rPr>
              <a:t>🤖 BEEP!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181344"/>
            <a:ext cx="3616283" cy="411480"/>
          </a:xfrm>
          <a:prstGeom prst="roundRect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901" y="6258898"/>
            <a:ext cx="76352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200" b="1" dirty="0">
                <a:solidFill>
                  <a:srgbClr val="172752"/>
                </a:solidFill>
                <a:latin typeface="Aptos"/>
              </a:rPr>
              <a:t>Robots need good routes too. Beep boop! 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" y="228600"/>
            <a:ext cx="128016" cy="640080"/>
          </a:xfrm>
          <a:prstGeom prst="roundRect">
            <a:avLst/>
          </a:prstGeom>
          <a:solidFill>
            <a:srgbClr val="2B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6665976"/>
            <a:ext cx="11475720" cy="41148"/>
          </a:xfrm>
          <a:prstGeom prst="rect">
            <a:avLst/>
          </a:prstGeom>
          <a:solidFill>
            <a:srgbClr val="2B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1051560" cy="50292"/>
          </a:xfrm>
          <a:prstGeom prst="rect">
            <a:avLst/>
          </a:prstGeom>
          <a:solidFill>
            <a:srgbClr val="29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10881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6C3DE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A small problem statement with a big computational challenge.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385897"/>
            <a:ext cx="3657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2743200" cy="12344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29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39" y="214884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39" y="2606040"/>
            <a:ext cx="2468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Cities + distances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331720"/>
            <a:ext cx="594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2743200" cy="12344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FFC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4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2468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Generate / improve tours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331720"/>
            <a:ext cx="594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9CFDC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965960"/>
            <a:ext cx="2743200" cy="12344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FD2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2148840"/>
            <a:ext cx="24688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3FD299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606040"/>
            <a:ext cx="2468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F5F8FF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Lowest-cost tour found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886200"/>
            <a:ext cx="10287000" cy="123444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rgbClr val="3042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" y="4032504"/>
            <a:ext cx="54864" cy="941832"/>
          </a:xfrm>
          <a:prstGeom prst="rect">
            <a:avLst/>
          </a:prstGeom>
          <a:solidFill>
            <a:srgbClr val="FFC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" y="4041648"/>
            <a:ext cx="9921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14A"/>
                </a:solidFill>
                <a:latin typeface="Aptos"/>
              </a:defRPr>
            </a:pPr>
            <a:r>
              <a:rPr sz="1600">
                <a:solidFill>
                  <a:srgbClr val="172752"/>
                </a:solidFill>
                <a:latin typeface="Aptos"/>
              </a:rPr>
              <a:t>REMEMBER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471416"/>
            <a:ext cx="9921240" cy="5212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TSP asks for a minimum-cost Hamiltonian cycle. Exact methods guarantee the optimum but can be expensive; heuristics find good routes faster.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4591" y="5572482"/>
            <a:ext cx="2442817" cy="7078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F5F8FF"/>
                </a:solidFill>
                <a:latin typeface="Aptos"/>
              </a:defRPr>
            </a:pPr>
            <a:r>
              <a:rPr sz="4000" dirty="0">
                <a:solidFill>
                  <a:srgbClr val="172752"/>
                </a:solidFill>
                <a:latin typeface="Aptos"/>
              </a:rPr>
              <a:t>Thank you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6423150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900" i="1">
                <a:solidFill>
                  <a:srgbClr val="B6C3DE"/>
                </a:solidFill>
                <a:latin typeface="Aptos"/>
              </a:defRPr>
            </a:pPr>
            <a:r>
              <a:rPr sz="1600" dirty="0">
                <a:solidFill>
                  <a:srgbClr val="172752"/>
                </a:solidFill>
                <a:latin typeface="Aptos"/>
              </a:rPr>
              <a:t>Generated using ChatGPT</a:t>
            </a:r>
          </a:p>
        </p:txBody>
      </p:sp>
      <p:sp>
        <p:nvSpPr>
          <p:cNvPr id="23" name="Oval 22"/>
          <p:cNvSpPr/>
          <p:nvPr/>
        </p:nvSpPr>
        <p:spPr>
          <a:xfrm>
            <a:off x="164592" y="146304"/>
            <a:ext cx="146304" cy="146304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48640" y="6419088"/>
            <a:ext cx="91440" cy="91440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32688" y="146304"/>
            <a:ext cx="91440" cy="91440"/>
          </a:xfrm>
          <a:prstGeom prst="ellipse">
            <a:avLst/>
          </a:prstGeom>
          <a:solidFill>
            <a:srgbClr val="FF9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316736" y="6419088"/>
            <a:ext cx="146304" cy="146304"/>
          </a:xfrm>
          <a:prstGeom prst="ellipse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378440" y="146304"/>
            <a:ext cx="91440" cy="91440"/>
          </a:xfrm>
          <a:prstGeom prst="ellipse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762488" y="6327648"/>
            <a:ext cx="91440" cy="91440"/>
          </a:xfrm>
          <a:prstGeom prst="ellipse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146536" y="146304"/>
            <a:ext cx="146304" cy="146304"/>
          </a:xfrm>
          <a:prstGeom prst="ellipse">
            <a:avLst/>
          </a:prstGeom>
          <a:solidFill>
            <a:srgbClr val="7C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818369" y="5952743"/>
            <a:ext cx="1143000" cy="384048"/>
          </a:xfrm>
          <a:prstGeom prst="roundRect">
            <a:avLst/>
          </a:prstGeom>
          <a:solidFill>
            <a:srgbClr val="40C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70955" y="6073988"/>
            <a:ext cx="1051560" cy="27432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/>
            <a:r>
              <a:rPr sz="1000" b="1" dirty="0">
                <a:solidFill>
                  <a:srgbClr val="172752"/>
                </a:solidFill>
                <a:latin typeface="Aptos"/>
              </a:rPr>
              <a:t>📦 DELIVER!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1" y="6181344"/>
            <a:ext cx="3108960" cy="411480"/>
          </a:xfrm>
          <a:prstGeom prst="roundRect">
            <a:avLst/>
          </a:prstGeom>
          <a:solidFill>
            <a:srgbClr val="FFC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6258900"/>
            <a:ext cx="7635240" cy="29260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1200" b="1" dirty="0">
                <a:solidFill>
                  <a:srgbClr val="172752"/>
                </a:solidFill>
                <a:latin typeface="Aptos"/>
              </a:rPr>
              <a:t>And the winner is… the shortest loop! 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456" y="228600"/>
            <a:ext cx="128016" cy="640080"/>
          </a:xfrm>
          <a:prstGeom prst="round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0040" y="6665976"/>
            <a:ext cx="11475720" cy="41148"/>
          </a:xfrm>
          <a:prstGeom prst="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3891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500" b="1">
                <a:solidFill>
                  <a:srgbClr val="30D3BE"/>
                </a:solidFill>
                <a:latin typeface="Aptos"/>
              </a:rPr>
              <a:t>WORKED EXAMPLE • LET’S CALCULATE IT PROPERLY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300" b="0">
                <a:solidFill>
                  <a:srgbClr val="BECBDC"/>
                </a:solidFill>
                <a:latin typeface="Aptos"/>
              </a:rPr>
              <a:t>Four cities • fixed start at A • each tour returns to 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17320" y="1874519"/>
            <a:ext cx="2240280" cy="0"/>
          </a:xfrm>
          <a:prstGeom prst="line">
            <a:avLst/>
          </a:prstGeom>
          <a:ln w="27940">
            <a:solidFill>
              <a:srgbClr val="FFA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27148" y="1737360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17320" y="1874519"/>
            <a:ext cx="0" cy="2011681"/>
          </a:xfrm>
          <a:prstGeom prst="line">
            <a:avLst/>
          </a:prstGeom>
          <a:ln w="27940">
            <a:solidFill>
              <a:srgbClr val="30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07008" y="2743200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17320" y="1874519"/>
            <a:ext cx="2240280" cy="2011681"/>
          </a:xfrm>
          <a:prstGeom prst="line">
            <a:avLst/>
          </a:prstGeom>
          <a:ln w="27940">
            <a:solidFill>
              <a:srgbClr val="BECB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44268" y="2697480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20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417320" y="1874519"/>
            <a:ext cx="2240280" cy="2011681"/>
          </a:xfrm>
          <a:prstGeom prst="line">
            <a:avLst/>
          </a:prstGeom>
          <a:ln w="27940">
            <a:solidFill>
              <a:srgbClr val="F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91740" y="2697480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35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1874519"/>
            <a:ext cx="0" cy="2011681"/>
          </a:xfrm>
          <a:prstGeom prst="line">
            <a:avLst/>
          </a:prstGeom>
          <a:ln w="27940">
            <a:solidFill>
              <a:srgbClr val="30D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47288" y="2743200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25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17320" y="3886200"/>
            <a:ext cx="2240280" cy="0"/>
          </a:xfrm>
          <a:prstGeom prst="line">
            <a:avLst/>
          </a:prstGeom>
          <a:ln w="27940">
            <a:solidFill>
              <a:srgbClr val="FFA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27148" y="3749039"/>
            <a:ext cx="438912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30</a:t>
            </a:r>
          </a:p>
        </p:txBody>
      </p:sp>
      <p:sp>
        <p:nvSpPr>
          <p:cNvPr id="16" name="Oval 15"/>
          <p:cNvSpPr/>
          <p:nvPr/>
        </p:nvSpPr>
        <p:spPr>
          <a:xfrm>
            <a:off x="1165860" y="1623060"/>
            <a:ext cx="502920" cy="502920"/>
          </a:xfrm>
          <a:prstGeom prst="ellipse">
            <a:avLst/>
          </a:prstGeom>
          <a:solidFill>
            <a:srgbClr val="30D3BE"/>
          </a:solidFill>
          <a:ln w="1651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B30"/>
                </a:solidFill>
                <a:latin typeface="Aptos Display"/>
              </a:rPr>
              <a:t>A</a:t>
            </a:r>
          </a:p>
        </p:txBody>
      </p:sp>
      <p:sp>
        <p:nvSpPr>
          <p:cNvPr id="17" name="Oval 16"/>
          <p:cNvSpPr/>
          <p:nvPr/>
        </p:nvSpPr>
        <p:spPr>
          <a:xfrm>
            <a:off x="3406140" y="1623060"/>
            <a:ext cx="502920" cy="502920"/>
          </a:xfrm>
          <a:prstGeom prst="ellipse">
            <a:avLst/>
          </a:prstGeom>
          <a:solidFill>
            <a:srgbClr val="5BA0FF"/>
          </a:solidFill>
          <a:ln w="1651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B30"/>
                </a:solidFill>
                <a:latin typeface="Aptos Display"/>
              </a:rPr>
              <a:t>B</a:t>
            </a:r>
          </a:p>
        </p:txBody>
      </p:sp>
      <p:sp>
        <p:nvSpPr>
          <p:cNvPr id="18" name="Oval 17"/>
          <p:cNvSpPr/>
          <p:nvPr/>
        </p:nvSpPr>
        <p:spPr>
          <a:xfrm>
            <a:off x="1165860" y="3634740"/>
            <a:ext cx="502920" cy="502920"/>
          </a:xfrm>
          <a:prstGeom prst="ellipse">
            <a:avLst/>
          </a:prstGeom>
          <a:solidFill>
            <a:srgbClr val="5BA0FF"/>
          </a:solidFill>
          <a:ln w="1651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B30"/>
                </a:solidFill>
                <a:latin typeface="Aptos Display"/>
              </a:rPr>
              <a:t>C</a:t>
            </a:r>
          </a:p>
        </p:txBody>
      </p:sp>
      <p:sp>
        <p:nvSpPr>
          <p:cNvPr id="19" name="Oval 18"/>
          <p:cNvSpPr/>
          <p:nvPr/>
        </p:nvSpPr>
        <p:spPr>
          <a:xfrm>
            <a:off x="3406140" y="3634740"/>
            <a:ext cx="502920" cy="502920"/>
          </a:xfrm>
          <a:prstGeom prst="ellipse">
            <a:avLst/>
          </a:prstGeom>
          <a:solidFill>
            <a:srgbClr val="5BA0FF"/>
          </a:solidFill>
          <a:ln w="16510"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B30"/>
                </a:solidFill>
                <a:latin typeface="Aptos Display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89120"/>
            <a:ext cx="429768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0">
                <a:solidFill>
                  <a:srgbClr val="BECBDC"/>
                </a:solidFill>
                <a:latin typeface="Aptos"/>
              </a:rPr>
              <a:t>Edge number = distance between two cities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1325880"/>
            <a:ext cx="3154680" cy="1170432"/>
          </a:xfrm>
          <a:prstGeom prst="roundRect">
            <a:avLst/>
          </a:prstGeom>
          <a:solidFill>
            <a:srgbClr val="1B2C46"/>
          </a:solidFill>
          <a:ln>
            <a:solidFill>
              <a:srgbClr val="F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28616" y="1399032"/>
            <a:ext cx="2898648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FF6973"/>
                </a:solidFill>
                <a:latin typeface="Aptos"/>
              </a:rPr>
              <a:t>TOUR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8616" y="1673352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 → B → C → D →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8616" y="2020824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0">
                <a:solidFill>
                  <a:srgbClr val="BECBDC"/>
                </a:solidFill>
                <a:latin typeface="Aptos"/>
              </a:rPr>
              <a:t>10 + 35 + 30 + 20 = 95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1325880"/>
            <a:ext cx="3154680" cy="1170432"/>
          </a:xfrm>
          <a:prstGeom prst="roundRect">
            <a:avLst/>
          </a:prstGeom>
          <a:solidFill>
            <a:srgbClr val="1B2C46"/>
          </a:solidFill>
          <a:ln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11896" y="1399032"/>
            <a:ext cx="2898648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FFA448"/>
                </a:solidFill>
                <a:latin typeface="Aptos"/>
              </a:rPr>
              <a:t>TOUR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1673352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 → C → B → D →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1896" y="2020824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0">
                <a:solidFill>
                  <a:srgbClr val="BECBDC"/>
                </a:solidFill>
                <a:latin typeface="Aptos"/>
              </a:rPr>
              <a:t>15 + 35 + 25 + 20 = 95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2743200"/>
            <a:ext cx="3154680" cy="1170432"/>
          </a:xfrm>
          <a:prstGeom prst="roundRect">
            <a:avLst/>
          </a:prstGeom>
          <a:solidFill>
            <a:srgbClr val="1B2C46"/>
          </a:solidFill>
          <a:ln>
            <a:solidFill>
              <a:srgbClr val="64D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28616" y="2816352"/>
            <a:ext cx="2898648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64DC8E"/>
                </a:solidFill>
                <a:latin typeface="Aptos"/>
              </a:rPr>
              <a:t>TOUR 3  ✓ BEST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28616" y="3090672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 → B → D → C →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8616" y="3438144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0">
                <a:solidFill>
                  <a:srgbClr val="BECBDC"/>
                </a:solidFill>
                <a:latin typeface="Aptos"/>
              </a:rPr>
              <a:t>10 + 25 + 30 + 15 = 80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2743200"/>
            <a:ext cx="3154680" cy="1170432"/>
          </a:xfrm>
          <a:prstGeom prst="roundRect">
            <a:avLst/>
          </a:prstGeom>
          <a:solidFill>
            <a:srgbClr val="1B2C46"/>
          </a:solidFill>
          <a:ln>
            <a:solidFill>
              <a:srgbClr val="30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11896" y="2816352"/>
            <a:ext cx="2898648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30D3BE"/>
                </a:solidFill>
                <a:latin typeface="Aptos"/>
              </a:rPr>
              <a:t>REVERSE TOUR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3090672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 → C → D → B → 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6" y="3438144"/>
            <a:ext cx="2898648" cy="2743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0">
                <a:solidFill>
                  <a:srgbClr val="BECBDC"/>
                </a:solidFill>
                <a:latin typeface="Aptos"/>
              </a:rPr>
              <a:t>15 + 30 + 25 + 10 = 80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00600" y="4251960"/>
            <a:ext cx="6537960" cy="594360"/>
          </a:xfrm>
          <a:prstGeom prst="roundRect">
            <a:avLst/>
          </a:prstGeom>
          <a:solidFill>
            <a:srgbClr val="144B42"/>
          </a:solidFill>
          <a:ln>
            <a:solidFill>
              <a:srgbClr val="64D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10912" y="4370832"/>
            <a:ext cx="612648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600" b="1">
                <a:solidFill>
                  <a:srgbClr val="64DC8E"/>
                </a:solidFill>
                <a:latin typeface="Aptos"/>
              </a:rPr>
              <a:t>MINIMUM TOUR = 80 DISTANCE UNITS  •  Route 3 (or its reverse)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074920"/>
            <a:ext cx="1088136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Why? A–B = 10, B–D = 25, D–C = 30, and C–A = 15. Add them: 10 + 25 + 30 + 15 = 80. The other distinct tours cost 95, so 80 is the global minimum for this 4-city graph.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000" b="1">
                <a:solidFill>
                  <a:srgbClr val="BECBD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600" b="1">
                <a:solidFill>
                  <a:srgbClr val="30D3BE"/>
                </a:solidFill>
                <a:latin typeface="Aptos"/>
              </a:rPr>
              <a:t>TIME COMPLEXITY • WHY DOES TSP GET HARD?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0">
                <a:solidFill>
                  <a:srgbClr val="BECBDC"/>
                </a:solidFill>
                <a:latin typeface="Aptos"/>
              </a:rPr>
              <a:t>Brute force checks every possible city order; the number of routes explodes as n grows.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4937760" cy="4526280"/>
          </a:xfrm>
          <a:prstGeom prst="roundRect">
            <a:avLst/>
          </a:prstGeom>
          <a:solidFill>
            <a:srgbClr val="1B2C46"/>
          </a:solidFill>
          <a:ln>
            <a:solidFill>
              <a:srgbClr val="5B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438912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5BA0FF"/>
                </a:solidFill>
                <a:latin typeface="Aptos"/>
              </a:rPr>
              <a:t>BRUTE-FORCE TOUR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38912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900" b="1">
                <a:solidFill>
                  <a:srgbClr val="F5F8FC"/>
                </a:solidFill>
                <a:latin typeface="Aptos"/>
              </a:rPr>
              <a:t>(n − 1)!  with the start city fixed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05840"/>
            <a:ext cx="150876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300" b="1">
                <a:solidFill>
                  <a:srgbClr val="BECBDC"/>
                </a:solidFill>
                <a:latin typeface="Aptos"/>
              </a:rPr>
              <a:t>5 cities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033272"/>
            <a:ext cx="594360" cy="228600"/>
          </a:xfrm>
          <a:prstGeom prst="rect">
            <a:avLst/>
          </a:prstGeom>
          <a:solidFill>
            <a:srgbClr val="5BA0FF"/>
          </a:solidFill>
          <a:ln>
            <a:solidFill>
              <a:srgbClr val="5B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987552"/>
            <a:ext cx="205740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4! = 24 tours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150876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300" b="1">
                <a:solidFill>
                  <a:srgbClr val="BECBDC"/>
                </a:solidFill>
                <a:latin typeface="Aptos"/>
              </a:rPr>
              <a:t>8 cities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2130551"/>
            <a:ext cx="1325880" cy="228600"/>
          </a:xfrm>
          <a:prstGeom prst="rect">
            <a:avLst/>
          </a:prstGeom>
          <a:solidFill>
            <a:srgbClr val="5BA0FF"/>
          </a:solidFill>
          <a:ln>
            <a:solidFill>
              <a:srgbClr val="5B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2084831"/>
            <a:ext cx="205740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7! = 5,040 tours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150876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300" b="1">
                <a:solidFill>
                  <a:srgbClr val="BECBDC"/>
                </a:solidFill>
                <a:latin typeface="Aptos"/>
              </a:rPr>
              <a:t>10 cities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3227832"/>
            <a:ext cx="2103120" cy="228600"/>
          </a:xfrm>
          <a:prstGeom prst="rect">
            <a:avLst/>
          </a:prstGeom>
          <a:solidFill>
            <a:srgbClr val="5BA0FF"/>
          </a:solidFill>
          <a:ln>
            <a:solidFill>
              <a:srgbClr val="5B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79" y="3182112"/>
            <a:ext cx="205740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9! = 362,880 tours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97680"/>
            <a:ext cx="150876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300" b="1">
                <a:solidFill>
                  <a:srgbClr val="BECBDC"/>
                </a:solidFill>
                <a:latin typeface="Aptos"/>
              </a:rPr>
              <a:t>12 cities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4325112"/>
            <a:ext cx="2834640" cy="228600"/>
          </a:xfrm>
          <a:prstGeom prst="rect">
            <a:avLst/>
          </a:prstGeom>
          <a:solidFill>
            <a:srgbClr val="5BA0FF"/>
          </a:solidFill>
          <a:ln>
            <a:solidFill>
              <a:srgbClr val="5B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57800" y="4279392"/>
            <a:ext cx="2057400" cy="31089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11! = 39,916,800 tours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1325880"/>
            <a:ext cx="5760720" cy="4526280"/>
          </a:xfrm>
          <a:prstGeom prst="roundRect">
            <a:avLst/>
          </a:prstGeom>
          <a:solidFill>
            <a:srgbClr val="1B2C46"/>
          </a:solidFill>
          <a:ln>
            <a:solidFill>
              <a:srgbClr val="30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80760" y="1508760"/>
            <a:ext cx="521208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30D3BE"/>
                </a:solidFill>
                <a:latin typeface="Aptos"/>
              </a:rPr>
              <a:t>HOW THE METHODS SCALE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1965960"/>
            <a:ext cx="5212080" cy="1024128"/>
          </a:xfrm>
          <a:prstGeom prst="roundRect">
            <a:avLst/>
          </a:prstGeom>
          <a:solidFill>
            <a:srgbClr val="0F1B30"/>
          </a:solidFill>
          <a:ln>
            <a:solidFill>
              <a:srgbClr val="F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2057400"/>
            <a:ext cx="2011680" cy="2468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FF6973"/>
                </a:solidFill>
                <a:latin typeface="Aptos"/>
              </a:rPr>
              <a:t>BRUTE FORCE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029967"/>
            <a:ext cx="278892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O(n!)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404872"/>
            <a:ext cx="47091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>
                <a:solidFill>
                  <a:srgbClr val="BECBDC"/>
                </a:solidFill>
                <a:latin typeface="Aptos"/>
              </a:rPr>
              <a:t>Exact; checks every tour. Becomes impractical very quickly.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3136391"/>
            <a:ext cx="5212080" cy="1024128"/>
          </a:xfrm>
          <a:prstGeom prst="roundRect">
            <a:avLst/>
          </a:prstGeom>
          <a:solidFill>
            <a:srgbClr val="0F1B30"/>
          </a:solidFill>
          <a:ln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3227832"/>
            <a:ext cx="2011680" cy="2468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FFA448"/>
                </a:solidFill>
                <a:latin typeface="Aptos"/>
              </a:rPr>
              <a:t>HELD–KARP DP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200399"/>
            <a:ext cx="278892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O(n² · 2ⁿ)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575303"/>
            <a:ext cx="47091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>
                <a:solidFill>
                  <a:srgbClr val="BECBDC"/>
                </a:solidFill>
                <a:latin typeface="Aptos"/>
              </a:rPr>
              <a:t>Exact; reuses subproblems, but still exponential.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4306824"/>
            <a:ext cx="5212080" cy="1024128"/>
          </a:xfrm>
          <a:prstGeom prst="roundRect">
            <a:avLst/>
          </a:prstGeom>
          <a:solidFill>
            <a:srgbClr val="0F1B30"/>
          </a:solidFill>
          <a:ln>
            <a:solidFill>
              <a:srgbClr val="64D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63640" y="4398264"/>
            <a:ext cx="2011680" cy="24688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200" b="1">
                <a:solidFill>
                  <a:srgbClr val="64DC8E"/>
                </a:solidFill>
                <a:latin typeface="Aptos"/>
              </a:rPr>
              <a:t>HEURISTICS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370832"/>
            <a:ext cx="2788920" cy="292608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Varies by method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745736"/>
            <a:ext cx="470916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100" b="0">
                <a:solidFill>
                  <a:srgbClr val="BECBDC"/>
                </a:solidFill>
                <a:latin typeface="Aptos"/>
              </a:rPr>
              <a:t>Often faster for large cases; may not guarantee optimum.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6016752"/>
            <a:ext cx="10789920" cy="438912"/>
          </a:xfrm>
          <a:prstGeom prst="roundRect">
            <a:avLst/>
          </a:prstGeom>
          <a:solidFill>
            <a:srgbClr val="42301D"/>
          </a:solidFill>
          <a:ln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6080760"/>
            <a:ext cx="10424160" cy="256032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FFA448"/>
                </a:solidFill>
                <a:latin typeface="Aptos"/>
              </a:rPr>
              <a:t>Key idea: brute force is O(n!) time. Held–Karp improves this to O(n² · 2ⁿ), but it is still exponential—not polynomial.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000" b="1">
                <a:solidFill>
                  <a:srgbClr val="BECBD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2600" b="1">
                <a:solidFill>
                  <a:srgbClr val="30D3BE"/>
                </a:solidFill>
                <a:latin typeface="Aptos"/>
              </a:rPr>
              <a:t>BRUTE-FORCE TSP • THE ALGORITHM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l"/>
            <a:r>
              <a:rPr sz="1400" b="0">
                <a:solidFill>
                  <a:srgbClr val="BECBDC"/>
                </a:solidFill>
                <a:latin typeface="Aptos"/>
              </a:rPr>
              <a:t>Follow the logic from input to the best tour.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148840" cy="713232"/>
          </a:xfrm>
          <a:prstGeom prst="roundRect">
            <a:avLst/>
          </a:prstGeom>
          <a:solidFill>
            <a:srgbClr val="1B2C46"/>
          </a:solidFill>
          <a:ln>
            <a:solidFill>
              <a:srgbClr val="5B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1" y="1499616"/>
            <a:ext cx="2002536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5BA0FF"/>
                </a:solidFill>
                <a:latin typeface="Aptos"/>
              </a:rPr>
              <a:t>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1" y="1764792"/>
            <a:ext cx="2002536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000" b="0">
                <a:solidFill>
                  <a:srgbClr val="F5F8FC"/>
                </a:solidFill>
                <a:latin typeface="Aptos"/>
              </a:rPr>
              <a:t>Choose start city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417320"/>
            <a:ext cx="2331720" cy="713232"/>
          </a:xfrm>
          <a:prstGeom prst="roundRect">
            <a:avLst/>
          </a:prstGeom>
          <a:solidFill>
            <a:srgbClr val="1B2C46"/>
          </a:solidFill>
          <a:ln>
            <a:solidFill>
              <a:srgbClr val="30D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27832" y="1499616"/>
            <a:ext cx="2185415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30D3BE"/>
                </a:solidFill>
                <a:latin typeface="Aptos"/>
              </a:rPr>
              <a:t>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1764792"/>
            <a:ext cx="2185415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000" b="0">
                <a:solidFill>
                  <a:srgbClr val="F5F8FC"/>
                </a:solidFill>
                <a:latin typeface="Aptos"/>
              </a:rPr>
              <a:t>Create a candidate tour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1417320"/>
            <a:ext cx="2331720" cy="713232"/>
          </a:xfrm>
          <a:prstGeom prst="roundRect">
            <a:avLst/>
          </a:prstGeom>
          <a:solidFill>
            <a:srgbClr val="1B2C46"/>
          </a:solidFill>
          <a:ln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71032" y="1499616"/>
            <a:ext cx="2185415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FFA448"/>
                </a:solidFill>
                <a:latin typeface="Aptos"/>
              </a:rPr>
              <a:t>CALCULATE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2" y="1764792"/>
            <a:ext cx="2185415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000" b="0">
                <a:solidFill>
                  <a:srgbClr val="F5F8FC"/>
                </a:solidFill>
                <a:latin typeface="Aptos"/>
              </a:rPr>
              <a:t>Add edge weights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417320"/>
            <a:ext cx="2651760" cy="713232"/>
          </a:xfrm>
          <a:prstGeom prst="roundRect">
            <a:avLst/>
          </a:prstGeom>
          <a:solidFill>
            <a:srgbClr val="1B2C46"/>
          </a:solidFill>
          <a:ln>
            <a:solidFill>
              <a:srgbClr val="64D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14232" y="1499616"/>
            <a:ext cx="2505456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64DC8E"/>
                </a:solidFill>
                <a:latin typeface="Aptos"/>
              </a:rP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1764792"/>
            <a:ext cx="2505456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000" b="0">
                <a:solidFill>
                  <a:srgbClr val="F5F8FC"/>
                </a:solidFill>
                <a:latin typeface="Aptos"/>
              </a:rPr>
              <a:t>Is cost lower than best?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88920" y="1773936"/>
            <a:ext cx="365760" cy="0"/>
          </a:xfrm>
          <a:prstGeom prst="line">
            <a:avLst/>
          </a:prstGeom>
          <a:ln w="254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0" y="1773936"/>
            <a:ext cx="411480" cy="0"/>
          </a:xfrm>
          <a:prstGeom prst="line">
            <a:avLst/>
          </a:prstGeom>
          <a:ln w="254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29600" y="1773936"/>
            <a:ext cx="411480" cy="0"/>
          </a:xfrm>
          <a:prstGeom prst="line">
            <a:avLst/>
          </a:prstGeom>
          <a:ln w="2540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41080" y="2788920"/>
            <a:ext cx="2651760" cy="749808"/>
          </a:xfrm>
          <a:prstGeom prst="roundRect">
            <a:avLst/>
          </a:prstGeom>
          <a:solidFill>
            <a:srgbClr val="144B42"/>
          </a:solidFill>
          <a:ln>
            <a:solidFill>
              <a:srgbClr val="64D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96528" y="2907792"/>
            <a:ext cx="233172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64DC8E"/>
                </a:solidFill>
                <a:latin typeface="Aptos"/>
              </a:rPr>
              <a:t>YES → Update best tour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2788920"/>
            <a:ext cx="2331720" cy="749808"/>
          </a:xfrm>
          <a:prstGeom prst="roundRect">
            <a:avLst/>
          </a:prstGeom>
          <a:solidFill>
            <a:srgbClr val="1B2C46"/>
          </a:solidFill>
          <a:ln>
            <a:solidFill>
              <a:srgbClr val="FFA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35040" y="2907792"/>
            <a:ext cx="2057400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FFA448"/>
                </a:solidFill>
                <a:latin typeface="Aptos"/>
              </a:rPr>
              <a:t>NO → Keep current best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966960" y="2130552"/>
            <a:ext cx="0" cy="658368"/>
          </a:xfrm>
          <a:prstGeom prst="line">
            <a:avLst/>
          </a:prstGeom>
          <a:ln w="25400">
            <a:solidFill>
              <a:srgbClr val="64D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40880" y="2130552"/>
            <a:ext cx="0" cy="658368"/>
          </a:xfrm>
          <a:prstGeom prst="line">
            <a:avLst/>
          </a:prstGeom>
          <a:ln w="25400">
            <a:solidFill>
              <a:srgbClr val="FFA4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98280" y="2331720"/>
            <a:ext cx="164592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000" b="1">
                <a:solidFill>
                  <a:srgbClr val="64DC8E"/>
                </a:solidFill>
                <a:latin typeface="Aptos"/>
              </a:rP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331720"/>
            <a:ext cx="137160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000" b="1">
                <a:solidFill>
                  <a:srgbClr val="FFA448"/>
                </a:solidFill>
                <a:latin typeface="Aptos"/>
              </a:rPr>
              <a:t>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4069080"/>
            <a:ext cx="2743200" cy="804672"/>
          </a:xfrm>
          <a:prstGeom prst="roundRect">
            <a:avLst/>
          </a:prstGeom>
          <a:solidFill>
            <a:srgbClr val="1B2C46"/>
          </a:solidFill>
          <a:ln>
            <a:solidFill>
              <a:srgbClr val="5B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10128" y="4187952"/>
            <a:ext cx="242316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200" b="1">
                <a:solidFill>
                  <a:srgbClr val="5BA0FF"/>
                </a:solidFill>
                <a:latin typeface="Aptos"/>
              </a:rPr>
              <a:t>More tours left?
YES: evaluate next tour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4069080"/>
            <a:ext cx="3017520" cy="804672"/>
          </a:xfrm>
          <a:prstGeom prst="roundRect">
            <a:avLst/>
          </a:prstGeom>
          <a:solidFill>
            <a:srgbClr val="144B42"/>
          </a:solidFill>
          <a:ln>
            <a:solidFill>
              <a:srgbClr val="64DC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79792" y="4187952"/>
            <a:ext cx="269748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300" b="1">
                <a:solidFill>
                  <a:srgbClr val="64DC8E"/>
                </a:solidFill>
                <a:latin typeface="Aptos"/>
              </a:rPr>
              <a:t>NO: output minimum tour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5486400" y="3538728"/>
            <a:ext cx="1554480" cy="530352"/>
          </a:xfrm>
          <a:prstGeom prst="line">
            <a:avLst/>
          </a:prstGeom>
          <a:ln w="22860">
            <a:solidFill>
              <a:srgbClr val="F5F8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8869680" y="3538728"/>
            <a:ext cx="1097280" cy="530352"/>
          </a:xfrm>
          <a:prstGeom prst="line">
            <a:avLst/>
          </a:prstGeom>
          <a:ln w="22860">
            <a:solidFill>
              <a:srgbClr val="64DC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2057400" y="4462272"/>
            <a:ext cx="1097280" cy="0"/>
          </a:xfrm>
          <a:prstGeom prst="line">
            <a:avLst/>
          </a:prstGeom>
          <a:ln w="22860">
            <a:solidFill>
              <a:srgbClr val="5B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057400" y="1773936"/>
            <a:ext cx="0" cy="2688336"/>
          </a:xfrm>
          <a:prstGeom prst="line">
            <a:avLst/>
          </a:prstGeom>
          <a:ln w="22860">
            <a:solidFill>
              <a:srgbClr val="5B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4360" y="5074920"/>
            <a:ext cx="10881360" cy="6858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500" b="0">
                <a:solidFill>
                  <a:srgbClr val="F5F8FC"/>
                </a:solidFill>
                <a:latin typeface="Aptos"/>
              </a:rPr>
              <a:t>For n cities, brute force evaluates (n − 1)! orders when the starting city is fixed. Each tour takes O(n) time to total, so a straightforward implementation is O(n!).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897880"/>
            <a:ext cx="1088136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ctr"/>
            <a:r>
              <a:rPr sz="1400" b="1">
                <a:solidFill>
                  <a:srgbClr val="FFA448"/>
                </a:solidFill>
                <a:latin typeface="Aptos"/>
              </a:rPr>
              <a:t>Remember: an algorithm can be correct and still be too slow for large inputs.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46520"/>
            <a:ext cx="502920" cy="2286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 algn="r"/>
            <a:r>
              <a:rPr sz="1000" b="1">
                <a:solidFill>
                  <a:srgbClr val="BECBD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1348</Words>
  <Application>Microsoft Office PowerPoint</Application>
  <PresentationFormat>Widescreen</PresentationFormat>
  <Paragraphs>230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Harshini S J</cp:lastModifiedBy>
  <cp:revision>3</cp:revision>
  <dcterms:created xsi:type="dcterms:W3CDTF">2013-01-27T09:14:16Z</dcterms:created>
  <dcterms:modified xsi:type="dcterms:W3CDTF">2026-10-20T08:13:27Z</dcterms:modified>
  <cp:category/>
</cp:coreProperties>
</file>